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F5B60-2494-DF8B-E45D-27F907EE9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40BAA8-3453-C083-171A-273ED2E99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B430A-C9DF-6FD0-31C8-230F3A2DA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CAC0-69E4-47B9-A0B1-7249F5BE227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9D5F-82E7-B727-A0DE-F70FE52BF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DE143-9870-7F9C-1F4C-6EC5FAB2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577B-2637-4555-B80B-7DB638A55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48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272A-9581-93E4-A6D1-22A43471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8A485-03F5-B8CC-2D50-34B775D8B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5C92C-46C3-6E59-91DB-142E5340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CAC0-69E4-47B9-A0B1-7249F5BE227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C6326-C151-B44D-72B4-DB91EE72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35379-FA69-41F2-082B-4D37713FE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577B-2637-4555-B80B-7DB638A55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06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49FDB-8236-1F7A-250D-3FE0FC0BB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D123E-70E1-F204-CAB4-B3515296A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15407-21FE-AF83-885D-CF9E7267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CAC0-69E4-47B9-A0B1-7249F5BE227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EF7FF-9C72-BCB5-CD0F-FB292486A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DAB43-2B5C-B9AB-F5D6-A62378F7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577B-2637-4555-B80B-7DB638A55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09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0FEAE-FFCF-3860-1088-E045088DC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3A542-8FEE-27A2-8EF1-7CA725460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3FC2C-D1FF-248F-7B33-EE3A5368F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D4FA1-5DAF-78C9-4CF5-51D4B45F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CAC0-69E4-47B9-A0B1-7249F5BE227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272E7-9CAA-96A6-1180-A4B840BB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D607E-8EEB-78A3-8BA8-FCF1EC2A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577B-2637-4555-B80B-7DB638A55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48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3D1CE-61AF-EAFA-7302-AF5D69858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91684-FDC2-41CF-F4D6-A08C596D8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81B28-84FA-E5F9-9631-7A40BC118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B2D5F2-E4EC-C226-F6EA-FEECFE9CD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F9A36D-5871-A477-458F-6BA7730E6B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11822D-6129-941A-C5FF-BF6811B6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CAC0-69E4-47B9-A0B1-7249F5BE227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D35BF7-A2E4-4BEE-C812-06423DE64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3CCA4C-AA50-1AE0-CFB2-D013CAA15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577B-2637-4555-B80B-7DB638A55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1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F381-404B-2097-FFC1-A919EF246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DF66A6-1ECE-39D8-F0A7-4E741A85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CAC0-69E4-47B9-A0B1-7249F5BE227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A65E9D-7199-3876-EBB3-88D2EB01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85F7C-E3BD-59FF-4F79-283A60AA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577B-2637-4555-B80B-7DB638A55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02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DDC9E-9D6C-81F5-5452-C8494EF5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CAC0-69E4-47B9-A0B1-7249F5BE227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697045-9B61-E323-16CF-B79BB4930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446F1-8C30-44CA-D2F5-4B0BCF0E6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577B-2637-4555-B80B-7DB638A55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6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856A3-96C3-B650-261A-3E04A2532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068E0-C837-F3CD-78FB-7AFBC215C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74AE3-C2E5-A0D1-2D51-3414D5886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2B8F9-E15C-308A-CDF2-3AA6B27E8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CAC0-69E4-47B9-A0B1-7249F5BE227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A3FA8-EF89-49DE-75B6-7841C884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18B20-E99A-1B8A-4908-B980E120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577B-2637-4555-B80B-7DB638A55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3EB6-9598-664F-1316-BCAD892C2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15A6FA-4888-A9D7-4994-BB8D7E5F2C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2A442-6D17-6DDE-2E9B-2CD413E7C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F151F-C201-315A-8B44-9874FC65F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CAC0-69E4-47B9-A0B1-7249F5BE227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63DB8-03F0-8B62-DFBD-168727473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FE539-F627-38B6-E8A0-009104C2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577B-2637-4555-B80B-7DB638A55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84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51D9-E832-ED4D-1AA9-149DC912C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F40119-DB4C-BB5B-0CC1-7C0F81DEA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80988-3A9F-69A1-5745-BA3AD0939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CAC0-69E4-47B9-A0B1-7249F5BE227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51470-EAC4-3C67-E1AF-8F2E2F94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C6A5-D18B-811B-EAC5-B1007E853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577B-2637-4555-B80B-7DB638A55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73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7686C0-499F-5D52-63BD-C8DCEBE89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53A37-BDC0-91E6-C9FF-14513BC9E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866E-4E0E-C11E-7521-477AE8CDD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0CAC0-69E4-47B9-A0B1-7249F5BE227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3999A-716E-B1C1-3E78-754390B8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F800F-2F36-B459-40F9-71B61FAFE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7577B-2637-4555-B80B-7DB638A55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05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FC0E1B-ADDC-214B-5250-87B21C45B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71CC2-11BB-2876-D237-2DE1356B5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CCBB7-51AB-E7B2-0C62-9578931C8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0CAC0-69E4-47B9-A0B1-7249F5BE227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7DD4E-FACD-1FC1-2017-B684B531E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29808-5C02-99C4-85A3-FB8AE8339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E7577B-2637-4555-B80B-7DB638A55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1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1EBE37-61D5-C7B1-A78B-2CC5955672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CE37B1-1A55-2007-8E0D-8C9423B72B09}"/>
              </a:ext>
            </a:extLst>
          </p:cNvPr>
          <p:cNvSpPr/>
          <p:nvPr/>
        </p:nvSpPr>
        <p:spPr>
          <a:xfrm>
            <a:off x="8509000" y="0"/>
            <a:ext cx="36830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9B48B5-23F1-018F-A7D4-BC346B149480}"/>
              </a:ext>
            </a:extLst>
          </p:cNvPr>
          <p:cNvSpPr/>
          <p:nvPr/>
        </p:nvSpPr>
        <p:spPr>
          <a:xfrm>
            <a:off x="8940800" y="1168400"/>
            <a:ext cx="558800" cy="482600"/>
          </a:xfrm>
          <a:prstGeom prst="roundRect">
            <a:avLst/>
          </a:prstGeom>
          <a:solidFill>
            <a:srgbClr val="DDF0F2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147D74-C448-E8B2-4CBB-0F2C918AF112}"/>
              </a:ext>
            </a:extLst>
          </p:cNvPr>
          <p:cNvSpPr/>
          <p:nvPr/>
        </p:nvSpPr>
        <p:spPr>
          <a:xfrm>
            <a:off x="9626600" y="1168400"/>
            <a:ext cx="558800" cy="482600"/>
          </a:xfrm>
          <a:prstGeom prst="roundRect">
            <a:avLst/>
          </a:prstGeom>
          <a:solidFill>
            <a:srgbClr val="E4EEF8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99B614-D0F0-7F28-6924-848B0CC6BE73}"/>
              </a:ext>
            </a:extLst>
          </p:cNvPr>
          <p:cNvSpPr/>
          <p:nvPr/>
        </p:nvSpPr>
        <p:spPr>
          <a:xfrm>
            <a:off x="10312400" y="1168400"/>
            <a:ext cx="558800" cy="482600"/>
          </a:xfrm>
          <a:prstGeom prst="roundRect">
            <a:avLst/>
          </a:prstGeom>
          <a:solidFill>
            <a:srgbClr val="E1F1E7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BD60AF4-B05D-3D95-F5FD-0DC8B844DF5B}"/>
              </a:ext>
            </a:extLst>
          </p:cNvPr>
          <p:cNvSpPr/>
          <p:nvPr/>
        </p:nvSpPr>
        <p:spPr>
          <a:xfrm>
            <a:off x="10998200" y="1168400"/>
            <a:ext cx="558800" cy="482600"/>
          </a:xfrm>
          <a:prstGeom prst="roundRect">
            <a:avLst/>
          </a:prstGeom>
          <a:solidFill>
            <a:srgbClr val="FBF1D4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585425-9937-F985-A96D-D305E29251F9}"/>
              </a:ext>
            </a:extLst>
          </p:cNvPr>
          <p:cNvSpPr/>
          <p:nvPr/>
        </p:nvSpPr>
        <p:spPr>
          <a:xfrm>
            <a:off x="8940800" y="1828800"/>
            <a:ext cx="558800" cy="482600"/>
          </a:xfrm>
          <a:prstGeom prst="roundRect">
            <a:avLst/>
          </a:prstGeom>
          <a:solidFill>
            <a:srgbClr val="E4EEF8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5E520BD-ABC7-9D89-6724-99FCD43AED0D}"/>
              </a:ext>
            </a:extLst>
          </p:cNvPr>
          <p:cNvSpPr/>
          <p:nvPr/>
        </p:nvSpPr>
        <p:spPr>
          <a:xfrm>
            <a:off x="9626600" y="1828800"/>
            <a:ext cx="558800" cy="482600"/>
          </a:xfrm>
          <a:prstGeom prst="roundRect">
            <a:avLst/>
          </a:prstGeom>
          <a:solidFill>
            <a:srgbClr val="E1F1E7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54682F-2B42-2F58-7314-0DD913E33D25}"/>
              </a:ext>
            </a:extLst>
          </p:cNvPr>
          <p:cNvSpPr/>
          <p:nvPr/>
        </p:nvSpPr>
        <p:spPr>
          <a:xfrm>
            <a:off x="10312400" y="1828800"/>
            <a:ext cx="558800" cy="482600"/>
          </a:xfrm>
          <a:prstGeom prst="roundRect">
            <a:avLst/>
          </a:prstGeom>
          <a:solidFill>
            <a:srgbClr val="FBF1D4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72C27F-64F2-C766-B760-A6FBBCFE0D11}"/>
              </a:ext>
            </a:extLst>
          </p:cNvPr>
          <p:cNvSpPr/>
          <p:nvPr/>
        </p:nvSpPr>
        <p:spPr>
          <a:xfrm>
            <a:off x="10998200" y="1828800"/>
            <a:ext cx="558800" cy="482600"/>
          </a:xfrm>
          <a:prstGeom prst="roundRect">
            <a:avLst/>
          </a:prstGeom>
          <a:solidFill>
            <a:srgbClr val="DDF0F2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8D2DC8F-A16C-E425-E6FA-3769F3CA2E0C}"/>
              </a:ext>
            </a:extLst>
          </p:cNvPr>
          <p:cNvSpPr/>
          <p:nvPr/>
        </p:nvSpPr>
        <p:spPr>
          <a:xfrm>
            <a:off x="8940800" y="2489200"/>
            <a:ext cx="558800" cy="482600"/>
          </a:xfrm>
          <a:prstGeom prst="roundRect">
            <a:avLst/>
          </a:prstGeom>
          <a:solidFill>
            <a:srgbClr val="E1F1E7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0C7ECB-DFDD-8402-419B-6EC4421B6494}"/>
              </a:ext>
            </a:extLst>
          </p:cNvPr>
          <p:cNvSpPr/>
          <p:nvPr/>
        </p:nvSpPr>
        <p:spPr>
          <a:xfrm>
            <a:off x="9626600" y="2489200"/>
            <a:ext cx="558800" cy="482600"/>
          </a:xfrm>
          <a:prstGeom prst="roundRect">
            <a:avLst/>
          </a:prstGeom>
          <a:solidFill>
            <a:srgbClr val="FBF1D4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2BB321-14DD-098E-FE87-40E1D5719238}"/>
              </a:ext>
            </a:extLst>
          </p:cNvPr>
          <p:cNvSpPr/>
          <p:nvPr/>
        </p:nvSpPr>
        <p:spPr>
          <a:xfrm>
            <a:off x="10312400" y="2489200"/>
            <a:ext cx="558800" cy="482600"/>
          </a:xfrm>
          <a:prstGeom prst="roundRect">
            <a:avLst/>
          </a:prstGeom>
          <a:solidFill>
            <a:srgbClr val="DDF0F2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7347C7-B0B8-D138-B47A-EC226103D8A4}"/>
              </a:ext>
            </a:extLst>
          </p:cNvPr>
          <p:cNvSpPr/>
          <p:nvPr/>
        </p:nvSpPr>
        <p:spPr>
          <a:xfrm>
            <a:off x="10998200" y="2489200"/>
            <a:ext cx="558800" cy="482600"/>
          </a:xfrm>
          <a:prstGeom prst="roundRect">
            <a:avLst/>
          </a:prstGeom>
          <a:solidFill>
            <a:srgbClr val="E4EEF8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62DAEA-2038-06B4-EF64-D803FB2C9912}"/>
              </a:ext>
            </a:extLst>
          </p:cNvPr>
          <p:cNvSpPr/>
          <p:nvPr/>
        </p:nvSpPr>
        <p:spPr>
          <a:xfrm>
            <a:off x="8940800" y="3149600"/>
            <a:ext cx="558800" cy="482600"/>
          </a:xfrm>
          <a:prstGeom prst="roundRect">
            <a:avLst/>
          </a:prstGeom>
          <a:solidFill>
            <a:srgbClr val="FBF1D4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707878F-BE9C-2775-15ED-D7276F1EBF87}"/>
              </a:ext>
            </a:extLst>
          </p:cNvPr>
          <p:cNvSpPr/>
          <p:nvPr/>
        </p:nvSpPr>
        <p:spPr>
          <a:xfrm>
            <a:off x="9626600" y="3149600"/>
            <a:ext cx="558800" cy="482600"/>
          </a:xfrm>
          <a:prstGeom prst="roundRect">
            <a:avLst/>
          </a:prstGeom>
          <a:solidFill>
            <a:srgbClr val="DDF0F2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512B065-01A2-F16E-70E0-F98D4C500874}"/>
              </a:ext>
            </a:extLst>
          </p:cNvPr>
          <p:cNvSpPr/>
          <p:nvPr/>
        </p:nvSpPr>
        <p:spPr>
          <a:xfrm>
            <a:off x="10312400" y="3149600"/>
            <a:ext cx="558800" cy="482600"/>
          </a:xfrm>
          <a:prstGeom prst="roundRect">
            <a:avLst/>
          </a:prstGeom>
          <a:solidFill>
            <a:srgbClr val="E4EEF8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060005-EE69-B98E-9B16-064E142EE6C1}"/>
              </a:ext>
            </a:extLst>
          </p:cNvPr>
          <p:cNvSpPr/>
          <p:nvPr/>
        </p:nvSpPr>
        <p:spPr>
          <a:xfrm>
            <a:off x="10998200" y="3149600"/>
            <a:ext cx="558800" cy="482600"/>
          </a:xfrm>
          <a:prstGeom prst="roundRect">
            <a:avLst/>
          </a:prstGeom>
          <a:solidFill>
            <a:srgbClr val="E1F1E7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F6777D-0F57-736F-4529-2962235D1C1F}"/>
              </a:ext>
            </a:extLst>
          </p:cNvPr>
          <p:cNvSpPr/>
          <p:nvPr/>
        </p:nvSpPr>
        <p:spPr>
          <a:xfrm>
            <a:off x="8940800" y="3810000"/>
            <a:ext cx="558800" cy="482600"/>
          </a:xfrm>
          <a:prstGeom prst="roundRect">
            <a:avLst/>
          </a:prstGeom>
          <a:solidFill>
            <a:srgbClr val="DDF0F2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327610-1AE6-66C2-E369-D477FED0D1D2}"/>
              </a:ext>
            </a:extLst>
          </p:cNvPr>
          <p:cNvSpPr/>
          <p:nvPr/>
        </p:nvSpPr>
        <p:spPr>
          <a:xfrm>
            <a:off x="9626600" y="3810000"/>
            <a:ext cx="558800" cy="482600"/>
          </a:xfrm>
          <a:prstGeom prst="roundRect">
            <a:avLst/>
          </a:prstGeom>
          <a:solidFill>
            <a:srgbClr val="E4EEF8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4CD7D9B-8CB1-DD1B-92C5-F1994087A776}"/>
              </a:ext>
            </a:extLst>
          </p:cNvPr>
          <p:cNvSpPr/>
          <p:nvPr/>
        </p:nvSpPr>
        <p:spPr>
          <a:xfrm>
            <a:off x="10312400" y="3810000"/>
            <a:ext cx="558800" cy="482600"/>
          </a:xfrm>
          <a:prstGeom prst="roundRect">
            <a:avLst/>
          </a:prstGeom>
          <a:solidFill>
            <a:srgbClr val="E1F1E7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6E11F2B-2E9C-6F84-0E92-5B7B84DE0489}"/>
              </a:ext>
            </a:extLst>
          </p:cNvPr>
          <p:cNvSpPr/>
          <p:nvPr/>
        </p:nvSpPr>
        <p:spPr>
          <a:xfrm>
            <a:off x="10998200" y="3810000"/>
            <a:ext cx="558800" cy="482600"/>
          </a:xfrm>
          <a:prstGeom prst="roundRect">
            <a:avLst/>
          </a:prstGeom>
          <a:solidFill>
            <a:srgbClr val="FBF1D4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820184A-1B73-A0DC-5585-CDFC21292D6F}"/>
              </a:ext>
            </a:extLst>
          </p:cNvPr>
          <p:cNvSpPr/>
          <p:nvPr/>
        </p:nvSpPr>
        <p:spPr>
          <a:xfrm>
            <a:off x="8940800" y="4470400"/>
            <a:ext cx="558800" cy="482600"/>
          </a:xfrm>
          <a:prstGeom prst="roundRect">
            <a:avLst/>
          </a:prstGeom>
          <a:solidFill>
            <a:srgbClr val="E4EEF8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2D84613-5D46-39A6-40E7-4A1FCDA7DD77}"/>
              </a:ext>
            </a:extLst>
          </p:cNvPr>
          <p:cNvSpPr/>
          <p:nvPr/>
        </p:nvSpPr>
        <p:spPr>
          <a:xfrm>
            <a:off x="9626600" y="4470400"/>
            <a:ext cx="558800" cy="482600"/>
          </a:xfrm>
          <a:prstGeom prst="roundRect">
            <a:avLst/>
          </a:prstGeom>
          <a:solidFill>
            <a:srgbClr val="E1F1E7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6DF37F2-6D10-03F1-69FC-3DF2A51655CA}"/>
              </a:ext>
            </a:extLst>
          </p:cNvPr>
          <p:cNvSpPr/>
          <p:nvPr/>
        </p:nvSpPr>
        <p:spPr>
          <a:xfrm>
            <a:off x="10312400" y="4470400"/>
            <a:ext cx="558800" cy="482600"/>
          </a:xfrm>
          <a:prstGeom prst="roundRect">
            <a:avLst/>
          </a:prstGeom>
          <a:solidFill>
            <a:srgbClr val="FBF1D4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C935F7F-8DEE-C233-080C-748A6638885A}"/>
              </a:ext>
            </a:extLst>
          </p:cNvPr>
          <p:cNvSpPr/>
          <p:nvPr/>
        </p:nvSpPr>
        <p:spPr>
          <a:xfrm>
            <a:off x="10998200" y="4470400"/>
            <a:ext cx="558800" cy="482600"/>
          </a:xfrm>
          <a:prstGeom prst="roundRect">
            <a:avLst/>
          </a:prstGeom>
          <a:solidFill>
            <a:srgbClr val="DDF0F2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7F5CF3D-75B8-208B-EF9B-0D6ECE23161D}"/>
              </a:ext>
            </a:extLst>
          </p:cNvPr>
          <p:cNvSpPr/>
          <p:nvPr/>
        </p:nvSpPr>
        <p:spPr>
          <a:xfrm>
            <a:off x="8940800" y="2870200"/>
            <a:ext cx="2616200" cy="355600"/>
          </a:xfrm>
          <a:prstGeom prst="roundRect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767544-4E8A-F073-A5FF-ACA31BC6753E}"/>
              </a:ext>
            </a:extLst>
          </p:cNvPr>
          <p:cNvSpPr txBox="1"/>
          <p:nvPr/>
        </p:nvSpPr>
        <p:spPr>
          <a:xfrm>
            <a:off x="9067800" y="2933700"/>
            <a:ext cx="23876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FFFFFF"/>
                </a:solidFill>
                <a:latin typeface="Aptos" panose="020B0004020202020204" pitchFamily="34" charset="0"/>
              </a:rPr>
              <a:t>CENTRAL CORRIDOR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732C97-92CB-FF19-C2F2-F2EFE2C0CB52}"/>
              </a:ext>
            </a:extLst>
          </p:cNvPr>
          <p:cNvSpPr txBox="1"/>
          <p:nvPr/>
        </p:nvSpPr>
        <p:spPr>
          <a:xfrm>
            <a:off x="685800" y="647700"/>
            <a:ext cx="6477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 b="1">
                <a:solidFill>
                  <a:srgbClr val="E9B44C"/>
                </a:solidFill>
                <a:latin typeface="Aptos" panose="020B0004020202020204" pitchFamily="34" charset="0"/>
              </a:rPr>
              <a:t>ARCGIS INDOORS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923545-BC59-1EA7-C6F4-DF79998DC851}"/>
              </a:ext>
            </a:extLst>
          </p:cNvPr>
          <p:cNvSpPr txBox="1"/>
          <p:nvPr/>
        </p:nvSpPr>
        <p:spPr>
          <a:xfrm>
            <a:off x="685800" y="1282700"/>
            <a:ext cx="7112000" cy="109773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Asset enrichment
and organizational catalog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E33D73-B0AF-D650-07AB-01BFA370480D}"/>
              </a:ext>
            </a:extLst>
          </p:cNvPr>
          <p:cNvSpPr txBox="1"/>
          <p:nvPr/>
        </p:nvSpPr>
        <p:spPr>
          <a:xfrm>
            <a:off x="723900" y="3225800"/>
            <a:ext cx="66675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500">
                <a:solidFill>
                  <a:srgbClr val="DDF0F2"/>
                </a:solidFill>
                <a:latin typeface="Aptos" panose="020B0004020202020204" pitchFamily="34" charset="0"/>
              </a:rPr>
              <a:t>A deterministic workflow for lifecycle history, procedural facilities, relationships, and optional local narratives.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F880E85-4C8C-8816-E77D-68724A4F8B87}"/>
              </a:ext>
            </a:extLst>
          </p:cNvPr>
          <p:cNvSpPr/>
          <p:nvPr/>
        </p:nvSpPr>
        <p:spPr>
          <a:xfrm>
            <a:off x="723900" y="4572000"/>
            <a:ext cx="1930400" cy="279400"/>
          </a:xfrm>
          <a:prstGeom prst="roundRect">
            <a:avLst/>
          </a:prstGeom>
          <a:solidFill>
            <a:srgbClr val="FBF1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8F2E0E-F619-4FEE-4469-6E585E881389}"/>
              </a:ext>
            </a:extLst>
          </p:cNvPr>
          <p:cNvSpPr txBox="1"/>
          <p:nvPr/>
        </p:nvSpPr>
        <p:spPr>
          <a:xfrm>
            <a:off x="774700" y="4584700"/>
            <a:ext cx="18288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17324D"/>
                </a:solidFill>
                <a:latin typeface="Aptos" panose="020B0004020202020204" pitchFamily="34" charset="0"/>
              </a:rPr>
              <a:t>EDITABLE POWERPOINT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2FABA6B-10A5-57D9-3BD2-608EC1A978F9}"/>
              </a:ext>
            </a:extLst>
          </p:cNvPr>
          <p:cNvSpPr/>
          <p:nvPr/>
        </p:nvSpPr>
        <p:spPr>
          <a:xfrm>
            <a:off x="2794000" y="4572000"/>
            <a:ext cx="1930400" cy="279400"/>
          </a:xfrm>
          <a:prstGeom prst="roundRect">
            <a:avLst/>
          </a:prstGeom>
          <a:solidFill>
            <a:srgbClr val="E1F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391B17-E6B9-6036-693E-F1453B3E218A}"/>
              </a:ext>
            </a:extLst>
          </p:cNvPr>
          <p:cNvSpPr txBox="1"/>
          <p:nvPr/>
        </p:nvSpPr>
        <p:spPr>
          <a:xfrm>
            <a:off x="2844800" y="4584700"/>
            <a:ext cx="18288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3D8361"/>
                </a:solidFill>
                <a:latin typeface="Aptos" panose="020B0004020202020204" pitchFamily="34" charset="0"/>
              </a:rPr>
              <a:t>VALIDATED CATALOG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5487AA-9C6A-80CB-6743-0E1C0A5E82AF}"/>
              </a:ext>
            </a:extLst>
          </p:cNvPr>
          <p:cNvSpPr txBox="1"/>
          <p:nvPr/>
        </p:nvSpPr>
        <p:spPr>
          <a:xfrm>
            <a:off x="723900" y="6019800"/>
            <a:ext cx="5334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>
                <a:solidFill>
                  <a:srgbClr val="FFFFFF"/>
                </a:solidFill>
                <a:latin typeface="Aptos" panose="020B0004020202020204" pitchFamily="34" charset="0"/>
              </a:rPr>
              <a:t>Reporting date: October 1, 2026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780124-B481-21EE-E65C-B0D32FCDD3BD}"/>
              </a:ext>
            </a:extLst>
          </p:cNvPr>
          <p:cNvSpPr txBox="1"/>
          <p:nvPr/>
        </p:nvSpPr>
        <p:spPr>
          <a:xfrm>
            <a:off x="8928100" y="5816600"/>
            <a:ext cx="26162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Synthetic demonstration data</a:t>
            </a:r>
          </a:p>
        </p:txBody>
      </p:sp>
    </p:spTree>
    <p:extLst>
      <p:ext uri="{BB962C8B-B14F-4D97-AF65-F5344CB8AC3E}">
        <p14:creationId xmlns:p14="http://schemas.microsoft.com/office/powerpoint/2010/main" val="238136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E7285C-B302-51E2-D304-37BA6E6F03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85F131-AA5E-9EAB-C562-D2242257A1A3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8EB59-AF1B-7F4D-01C1-6F2B5549A29E}"/>
              </a:ext>
            </a:extLst>
          </p:cNvPr>
          <p:cNvSpPr txBox="1"/>
          <p:nvPr/>
        </p:nvSpPr>
        <p:spPr>
          <a:xfrm>
            <a:off x="533400" y="304800"/>
            <a:ext cx="9652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0B7285"/>
                </a:solidFill>
                <a:latin typeface="Aptos" panose="020B0004020202020204" pitchFamily="34" charset="0"/>
              </a:rPr>
              <a:t>EXECUTIVE OUTCOME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62118-6C43-ED43-D65A-3C0C8AF2AA7A}"/>
              </a:ext>
            </a:extLst>
          </p:cNvPr>
          <p:cNvSpPr txBox="1"/>
          <p:nvPr/>
        </p:nvSpPr>
        <p:spPr>
          <a:xfrm>
            <a:off x="533400" y="635000"/>
            <a:ext cx="10922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700" b="1">
                <a:solidFill>
                  <a:srgbClr val="17324D"/>
                </a:solidFill>
                <a:latin typeface="Aptos" panose="020B0004020202020204" pitchFamily="34" charset="0"/>
              </a:rPr>
              <a:t>A repeatable catalog, ready for demonstration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29C406-AD0D-5314-6B43-1C196E134A27}"/>
              </a:ext>
            </a:extLst>
          </p:cNvPr>
          <p:cNvSpPr txBox="1"/>
          <p:nvPr/>
        </p:nvSpPr>
        <p:spPr>
          <a:xfrm>
            <a:off x="558800" y="12573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One reviewed facility is preserved; five facilities are generated without CAD or manual room inventories.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1009C-B709-FB38-1ED4-3E6D457EFBCE}"/>
              </a:ext>
            </a:extLst>
          </p:cNvPr>
          <p:cNvSpPr txBox="1"/>
          <p:nvPr/>
        </p:nvSpPr>
        <p:spPr>
          <a:xfrm>
            <a:off x="533400" y="6502400"/>
            <a:ext cx="11049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>
                <a:solidFill>
                  <a:srgbClr val="5D6B75"/>
                </a:solidFill>
                <a:latin typeface="Aptos" panose="020B0004020202020204" pitchFamily="34" charset="0"/>
              </a:rPr>
              <a:t>INDOORS ASSET CATALOG  |  02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C5B0D2-281C-AA57-129B-8204EF48CC3F}"/>
              </a:ext>
            </a:extLst>
          </p:cNvPr>
          <p:cNvSpPr/>
          <p:nvPr/>
        </p:nvSpPr>
        <p:spPr>
          <a:xfrm>
            <a:off x="558800" y="1917700"/>
            <a:ext cx="2413000" cy="1168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0691CC-E5C4-C276-404E-73898028BDE7}"/>
              </a:ext>
            </a:extLst>
          </p:cNvPr>
          <p:cNvSpPr/>
          <p:nvPr/>
        </p:nvSpPr>
        <p:spPr>
          <a:xfrm>
            <a:off x="558800" y="1917700"/>
            <a:ext cx="76200" cy="1168400"/>
          </a:xfrm>
          <a:prstGeom prst="round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804430-B440-BEAD-CF3D-68F92DC5EF6E}"/>
              </a:ext>
            </a:extLst>
          </p:cNvPr>
          <p:cNvSpPr txBox="1"/>
          <p:nvPr/>
        </p:nvSpPr>
        <p:spPr>
          <a:xfrm>
            <a:off x="787400" y="2108200"/>
            <a:ext cx="20574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400" b="1">
                <a:solidFill>
                  <a:srgbClr val="17324D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FD575C-0B3D-E533-5E77-4862EC4C0690}"/>
              </a:ext>
            </a:extLst>
          </p:cNvPr>
          <p:cNvSpPr txBox="1"/>
          <p:nvPr/>
        </p:nvSpPr>
        <p:spPr>
          <a:xfrm>
            <a:off x="787400" y="2628900"/>
            <a:ext cx="2057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Sites and facilities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C85072-6702-6679-3BD0-4D539F25D2AC}"/>
              </a:ext>
            </a:extLst>
          </p:cNvPr>
          <p:cNvSpPr/>
          <p:nvPr/>
        </p:nvSpPr>
        <p:spPr>
          <a:xfrm>
            <a:off x="3225800" y="1917700"/>
            <a:ext cx="2413000" cy="1168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545FF3-3CAF-6AC2-5F9D-29407DC4CDB9}"/>
              </a:ext>
            </a:extLst>
          </p:cNvPr>
          <p:cNvSpPr/>
          <p:nvPr/>
        </p:nvSpPr>
        <p:spPr>
          <a:xfrm>
            <a:off x="3225800" y="1917700"/>
            <a:ext cx="76200" cy="1168400"/>
          </a:xfrm>
          <a:prstGeom prst="roundRect">
            <a:avLst/>
          </a:prstGeom>
          <a:solidFill>
            <a:srgbClr val="287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2BF60-9E1D-2040-38FC-C3A95E6057E7}"/>
              </a:ext>
            </a:extLst>
          </p:cNvPr>
          <p:cNvSpPr txBox="1"/>
          <p:nvPr/>
        </p:nvSpPr>
        <p:spPr>
          <a:xfrm>
            <a:off x="3454400" y="2108200"/>
            <a:ext cx="20574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400" b="1">
                <a:solidFill>
                  <a:srgbClr val="17324D"/>
                </a:solidFill>
                <a:latin typeface="Aptos" panose="020B0004020202020204" pitchFamily="34" charset="0"/>
              </a:rPr>
              <a:t>1,025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D4B9EF-0A2F-7638-0BA0-5C5A208CD54A}"/>
              </a:ext>
            </a:extLst>
          </p:cNvPr>
          <p:cNvSpPr txBox="1"/>
          <p:nvPr/>
        </p:nvSpPr>
        <p:spPr>
          <a:xfrm>
            <a:off x="3454400" y="2628900"/>
            <a:ext cx="2057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Units across 32 levels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18E35B-CB00-1D8D-4CD7-2CAFD40AD2D2}"/>
              </a:ext>
            </a:extLst>
          </p:cNvPr>
          <p:cNvSpPr/>
          <p:nvPr/>
        </p:nvSpPr>
        <p:spPr>
          <a:xfrm>
            <a:off x="5892800" y="1917700"/>
            <a:ext cx="2413000" cy="1168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D320C1C-C913-A812-89B1-CF1DD81D08C5}"/>
              </a:ext>
            </a:extLst>
          </p:cNvPr>
          <p:cNvSpPr/>
          <p:nvPr/>
        </p:nvSpPr>
        <p:spPr>
          <a:xfrm>
            <a:off x="5892800" y="1917700"/>
            <a:ext cx="76200" cy="1168400"/>
          </a:xfrm>
          <a:prstGeom prst="roundRect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C10C3-3A25-D106-28B3-9F13B531CB32}"/>
              </a:ext>
            </a:extLst>
          </p:cNvPr>
          <p:cNvSpPr txBox="1"/>
          <p:nvPr/>
        </p:nvSpPr>
        <p:spPr>
          <a:xfrm>
            <a:off x="6121400" y="2108200"/>
            <a:ext cx="20574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400" b="1">
                <a:solidFill>
                  <a:srgbClr val="17324D"/>
                </a:solidFill>
                <a:latin typeface="Aptos" panose="020B0004020202020204" pitchFamily="34" charset="0"/>
              </a:rPr>
              <a:t>4,852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1095F7-DB69-3FF7-A44C-7C58E2177B3A}"/>
              </a:ext>
            </a:extLst>
          </p:cNvPr>
          <p:cNvSpPr txBox="1"/>
          <p:nvPr/>
        </p:nvSpPr>
        <p:spPr>
          <a:xfrm>
            <a:off x="6121400" y="2628900"/>
            <a:ext cx="2057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Indoor lifecycle assets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B19ACB5-DEED-573D-2064-06660ADAF80E}"/>
              </a:ext>
            </a:extLst>
          </p:cNvPr>
          <p:cNvSpPr/>
          <p:nvPr/>
        </p:nvSpPr>
        <p:spPr>
          <a:xfrm>
            <a:off x="8559800" y="1917700"/>
            <a:ext cx="2413000" cy="1168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A8CAFD3-1409-6CD1-3EFC-A73649C99868}"/>
              </a:ext>
            </a:extLst>
          </p:cNvPr>
          <p:cNvSpPr/>
          <p:nvPr/>
        </p:nvSpPr>
        <p:spPr>
          <a:xfrm>
            <a:off x="8559800" y="1917700"/>
            <a:ext cx="76200" cy="1168400"/>
          </a:xfrm>
          <a:prstGeom prst="roundRect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85D277-BA6D-7FB9-209C-1C4B54E0636D}"/>
              </a:ext>
            </a:extLst>
          </p:cNvPr>
          <p:cNvSpPr txBox="1"/>
          <p:nvPr/>
        </p:nvSpPr>
        <p:spPr>
          <a:xfrm>
            <a:off x="8788400" y="2108200"/>
            <a:ext cx="20574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400" b="1">
                <a:solidFill>
                  <a:srgbClr val="17324D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A2507-F861-84C0-0871-E25B6C345355}"/>
              </a:ext>
            </a:extLst>
          </p:cNvPr>
          <p:cNvSpPr txBox="1"/>
          <p:nvPr/>
        </p:nvSpPr>
        <p:spPr>
          <a:xfrm>
            <a:off x="8788400" y="2628900"/>
            <a:ext cx="2057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Orphan references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8D10442-9493-2AF8-AD70-5000314A9B0C}"/>
              </a:ext>
            </a:extLst>
          </p:cNvPr>
          <p:cNvSpPr/>
          <p:nvPr/>
        </p:nvSpPr>
        <p:spPr>
          <a:xfrm>
            <a:off x="558800" y="3517900"/>
            <a:ext cx="10414000" cy="2209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AB89B4-3F89-FE82-5412-4C2F040561A8}"/>
              </a:ext>
            </a:extLst>
          </p:cNvPr>
          <p:cNvSpPr txBox="1"/>
          <p:nvPr/>
        </p:nvSpPr>
        <p:spPr>
          <a:xfrm>
            <a:off x="838200" y="3810000"/>
            <a:ext cx="3810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400" b="1">
                <a:solidFill>
                  <a:srgbClr val="17324D"/>
                </a:solidFill>
                <a:latin typeface="Aptos" panose="020B0004020202020204" pitchFamily="34" charset="0"/>
              </a:rPr>
              <a:t>What the workflow delivers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84FFBA6-DAA0-F750-34B3-146735A2BB76}"/>
              </a:ext>
            </a:extLst>
          </p:cNvPr>
          <p:cNvSpPr/>
          <p:nvPr/>
        </p:nvSpPr>
        <p:spPr>
          <a:xfrm>
            <a:off x="838200" y="4368800"/>
            <a:ext cx="101600" cy="101600"/>
          </a:xfrm>
          <a:prstGeom prst="ellipse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D0CA83-BF6E-2C5A-CBB4-157DEB0505D3}"/>
              </a:ext>
            </a:extLst>
          </p:cNvPr>
          <p:cNvSpPr txBox="1"/>
          <p:nvPr/>
        </p:nvSpPr>
        <p:spPr>
          <a:xfrm>
            <a:off x="1054100" y="4279900"/>
            <a:ext cx="93726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>
                <a:solidFill>
                  <a:srgbClr val="1F2D38"/>
                </a:solidFill>
                <a:latin typeface="Aptos" panose="020B0004020202020204" pitchFamily="34" charset="0"/>
              </a:rPr>
              <a:t>Preserves Vertex Medical Center as a reviewed, enriched 1,003-asset slice.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DD6BF9-B352-EED5-4990-78D942A817F0}"/>
              </a:ext>
            </a:extLst>
          </p:cNvPr>
          <p:cNvSpPr/>
          <p:nvPr/>
        </p:nvSpPr>
        <p:spPr>
          <a:xfrm>
            <a:off x="838200" y="4749800"/>
            <a:ext cx="101600" cy="101600"/>
          </a:xfrm>
          <a:prstGeom prst="ellipse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1B3E05-271D-83D9-C9FC-97B90040445E}"/>
              </a:ext>
            </a:extLst>
          </p:cNvPr>
          <p:cNvSpPr txBox="1"/>
          <p:nvPr/>
        </p:nvSpPr>
        <p:spPr>
          <a:xfrm>
            <a:off x="1054100" y="4660900"/>
            <a:ext cx="93726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>
                <a:solidFill>
                  <a:srgbClr val="1F2D38"/>
                </a:solidFill>
                <a:latin typeface="Aptos" panose="020B0004020202020204" pitchFamily="34" charset="0"/>
              </a:rPr>
              <a:t>Creates four hospitals and Admin HQ with deterministic procedural floor plans.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FFE9662-DCA3-E039-63F5-F0EB526B1721}"/>
              </a:ext>
            </a:extLst>
          </p:cNvPr>
          <p:cNvSpPr/>
          <p:nvPr/>
        </p:nvSpPr>
        <p:spPr>
          <a:xfrm>
            <a:off x="838200" y="5130800"/>
            <a:ext cx="101600" cy="101600"/>
          </a:xfrm>
          <a:prstGeom prst="ellipse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E5889C-1789-FC06-0F5B-2D44F6769DE4}"/>
              </a:ext>
            </a:extLst>
          </p:cNvPr>
          <p:cNvSpPr txBox="1"/>
          <p:nvPr/>
        </p:nvSpPr>
        <p:spPr>
          <a:xfrm>
            <a:off x="1054100" y="5041900"/>
            <a:ext cx="93726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>
                <a:solidFill>
                  <a:srgbClr val="1F2D38"/>
                </a:solidFill>
                <a:latin typeface="Aptos" panose="020B0004020202020204" pitchFamily="34" charset="0"/>
              </a:rPr>
              <a:t>Builds validated lifecycle, inspection, repair, work-order, and dependency relationships.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F88BC7E-ABDD-9818-26CD-265F3164EBF8}"/>
              </a:ext>
            </a:extLst>
          </p:cNvPr>
          <p:cNvSpPr/>
          <p:nvPr/>
        </p:nvSpPr>
        <p:spPr>
          <a:xfrm>
            <a:off x="838200" y="5511800"/>
            <a:ext cx="101600" cy="101600"/>
          </a:xfrm>
          <a:prstGeom prst="ellipse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B7FD89-B44E-6C4B-1172-A77E8617D94D}"/>
              </a:ext>
            </a:extLst>
          </p:cNvPr>
          <p:cNvSpPr txBox="1"/>
          <p:nvPr/>
        </p:nvSpPr>
        <p:spPr>
          <a:xfrm>
            <a:off x="1054100" y="5422900"/>
            <a:ext cx="93726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>
                <a:solidFill>
                  <a:srgbClr val="1F2D38"/>
                </a:solidFill>
                <a:latin typeface="Aptos" panose="020B0004020202020204" pitchFamily="34" charset="0"/>
              </a:rPr>
              <a:t>Uses local AI only for optional narrative text; Python remains authoritative.</a:t>
            </a:r>
          </a:p>
        </p:txBody>
      </p:sp>
    </p:spTree>
    <p:extLst>
      <p:ext uri="{BB962C8B-B14F-4D97-AF65-F5344CB8AC3E}">
        <p14:creationId xmlns:p14="http://schemas.microsoft.com/office/powerpoint/2010/main" val="2388075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E31C28-E8AA-3B5E-83CF-CF3E82550B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21E12A-65C0-4FE8-E64A-F5EF5D4D1E0F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8C444-F3D6-5DA4-5F84-404C8C970580}"/>
              </a:ext>
            </a:extLst>
          </p:cNvPr>
          <p:cNvSpPr txBox="1"/>
          <p:nvPr/>
        </p:nvSpPr>
        <p:spPr>
          <a:xfrm>
            <a:off x="533400" y="304800"/>
            <a:ext cx="9652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0B7285"/>
                </a:solidFill>
                <a:latin typeface="Aptos" panose="020B0004020202020204" pitchFamily="34" charset="0"/>
              </a:rPr>
              <a:t>DATA LINEAGE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114FC-CA54-F8B2-8553-04E09AD07A2C}"/>
              </a:ext>
            </a:extLst>
          </p:cNvPr>
          <p:cNvSpPr txBox="1"/>
          <p:nvPr/>
        </p:nvSpPr>
        <p:spPr>
          <a:xfrm>
            <a:off x="533400" y="635000"/>
            <a:ext cx="10922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700" b="1">
                <a:solidFill>
                  <a:srgbClr val="17324D"/>
                </a:solidFill>
                <a:latin typeface="Aptos" panose="020B0004020202020204" pitchFamily="34" charset="0"/>
              </a:rPr>
              <a:t>One source, two controlled outputs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8AF88B-461A-6BD5-A252-1B379B033F50}"/>
              </a:ext>
            </a:extLst>
          </p:cNvPr>
          <p:cNvSpPr txBox="1"/>
          <p:nvPr/>
        </p:nvSpPr>
        <p:spPr>
          <a:xfrm>
            <a:off x="558800" y="12573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The original geodatabase is never updated in place.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0E6CBE-5A7E-DD08-22E7-8F5763CEBFA6}"/>
              </a:ext>
            </a:extLst>
          </p:cNvPr>
          <p:cNvSpPr txBox="1"/>
          <p:nvPr/>
        </p:nvSpPr>
        <p:spPr>
          <a:xfrm>
            <a:off x="533400" y="6502400"/>
            <a:ext cx="11049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>
                <a:solidFill>
                  <a:srgbClr val="5D6B75"/>
                </a:solidFill>
                <a:latin typeface="Aptos" panose="020B0004020202020204" pitchFamily="34" charset="0"/>
              </a:rPr>
              <a:t>INDOORS ASSET CATALOG  |  03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243F21-460D-5F41-5474-55727EE76C5C}"/>
              </a:ext>
            </a:extLst>
          </p:cNvPr>
          <p:cNvSpPr/>
          <p:nvPr/>
        </p:nvSpPr>
        <p:spPr>
          <a:xfrm>
            <a:off x="596900" y="2057400"/>
            <a:ext cx="3289300" cy="299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97FE03-8175-2B67-45A8-0F588EDDB0D3}"/>
              </a:ext>
            </a:extLst>
          </p:cNvPr>
          <p:cNvSpPr/>
          <p:nvPr/>
        </p:nvSpPr>
        <p:spPr>
          <a:xfrm>
            <a:off x="825500" y="2286000"/>
            <a:ext cx="533400" cy="5334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B67A5-5291-FD46-0D4C-763894D6360C}"/>
              </a:ext>
            </a:extLst>
          </p:cNvPr>
          <p:cNvSpPr txBox="1"/>
          <p:nvPr/>
        </p:nvSpPr>
        <p:spPr>
          <a:xfrm>
            <a:off x="825500" y="2387600"/>
            <a:ext cx="5334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703EA4-7CD7-4D00-72F6-E9FA8E65AB7B}"/>
              </a:ext>
            </a:extLst>
          </p:cNvPr>
          <p:cNvSpPr/>
          <p:nvPr/>
        </p:nvSpPr>
        <p:spPr>
          <a:xfrm>
            <a:off x="1536700" y="2349500"/>
            <a:ext cx="2044700" cy="279400"/>
          </a:xfrm>
          <a:prstGeom prst="roundRect">
            <a:avLst/>
          </a:prstGeom>
          <a:solidFill>
            <a:srgbClr val="FBF1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C68344-A8FB-790B-160D-AA419688B6FF}"/>
              </a:ext>
            </a:extLst>
          </p:cNvPr>
          <p:cNvSpPr txBox="1"/>
          <p:nvPr/>
        </p:nvSpPr>
        <p:spPr>
          <a:xfrm>
            <a:off x="1587500" y="2362200"/>
            <a:ext cx="19431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E9B44C"/>
                </a:solidFill>
                <a:latin typeface="Aptos" panose="020B0004020202020204" pitchFamily="34" charset="0"/>
              </a:rPr>
              <a:t>READ-ONLY SOURCE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635D83-1E3E-4DD9-771C-4D442287D0DF}"/>
              </a:ext>
            </a:extLst>
          </p:cNvPr>
          <p:cNvSpPr txBox="1"/>
          <p:nvPr/>
        </p:nvSpPr>
        <p:spPr>
          <a:xfrm>
            <a:off x="850900" y="3073400"/>
            <a:ext cx="2781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500" b="1">
                <a:solidFill>
                  <a:srgbClr val="17324D"/>
                </a:solidFill>
                <a:latin typeface="Aptos" panose="020B0004020202020204" pitchFamily="34" charset="0"/>
              </a:rPr>
              <a:t>Vertex_Assets.gdb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5A8654-B481-39A8-0615-1A5D14AEF6CA}"/>
              </a:ext>
            </a:extLst>
          </p:cNvPr>
          <p:cNvSpPr txBox="1"/>
          <p:nvPr/>
        </p:nvSpPr>
        <p:spPr>
          <a:xfrm>
            <a:off x="850900" y="3949700"/>
            <a:ext cx="2781300" cy="559127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Indoors hierarchy
1,003 indoor assets
History tables empty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1BBAEB-F8BF-5867-FDD9-779535ABD26D}"/>
              </a:ext>
            </a:extLst>
          </p:cNvPr>
          <p:cNvCxnSpPr/>
          <p:nvPr/>
        </p:nvCxnSpPr>
        <p:spPr>
          <a:xfrm>
            <a:off x="3962400" y="3556000"/>
            <a:ext cx="355600" cy="0"/>
          </a:xfrm>
          <a:prstGeom prst="line">
            <a:avLst/>
          </a:prstGeom>
          <a:ln w="31750">
            <a:solidFill>
              <a:srgbClr val="E76F5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322344-AB1C-E5A1-6A17-74DCB53BF343}"/>
              </a:ext>
            </a:extLst>
          </p:cNvPr>
          <p:cNvSpPr/>
          <p:nvPr/>
        </p:nvSpPr>
        <p:spPr>
          <a:xfrm>
            <a:off x="4432300" y="2057400"/>
            <a:ext cx="3289300" cy="299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DE6FC33-8348-731B-3142-CA2B11FD6D58}"/>
              </a:ext>
            </a:extLst>
          </p:cNvPr>
          <p:cNvSpPr/>
          <p:nvPr/>
        </p:nvSpPr>
        <p:spPr>
          <a:xfrm>
            <a:off x="4660900" y="2286000"/>
            <a:ext cx="533400" cy="533400"/>
          </a:xfrm>
          <a:prstGeom prst="ellipse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C0B41E-5362-6E43-F4A6-E7A929EA66FA}"/>
              </a:ext>
            </a:extLst>
          </p:cNvPr>
          <p:cNvSpPr txBox="1"/>
          <p:nvPr/>
        </p:nvSpPr>
        <p:spPr>
          <a:xfrm>
            <a:off x="4660900" y="2387600"/>
            <a:ext cx="5334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8B318D4-4F1F-8851-6CAD-78C8613B9C25}"/>
              </a:ext>
            </a:extLst>
          </p:cNvPr>
          <p:cNvSpPr/>
          <p:nvPr/>
        </p:nvSpPr>
        <p:spPr>
          <a:xfrm>
            <a:off x="5372100" y="2349500"/>
            <a:ext cx="2044700" cy="279400"/>
          </a:xfrm>
          <a:prstGeom prst="roundRect">
            <a:avLst/>
          </a:prstGeom>
          <a:solidFill>
            <a:srgbClr val="DD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0B715E-E43C-C1FA-6C61-69BD9322C332}"/>
              </a:ext>
            </a:extLst>
          </p:cNvPr>
          <p:cNvSpPr txBox="1"/>
          <p:nvPr/>
        </p:nvSpPr>
        <p:spPr>
          <a:xfrm>
            <a:off x="5422900" y="2362200"/>
            <a:ext cx="19431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0B7285"/>
                </a:solidFill>
                <a:latin typeface="Aptos" panose="020B0004020202020204" pitchFamily="34" charset="0"/>
              </a:rPr>
              <a:t>REVIEWED VERTEX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019066-B3C8-3D60-485C-2D48CFE9A523}"/>
              </a:ext>
            </a:extLst>
          </p:cNvPr>
          <p:cNvSpPr txBox="1"/>
          <p:nvPr/>
        </p:nvSpPr>
        <p:spPr>
          <a:xfrm>
            <a:off x="4686300" y="3073400"/>
            <a:ext cx="2781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500" b="1">
                <a:solidFill>
                  <a:srgbClr val="17324D"/>
                </a:solidFill>
                <a:latin typeface="Aptos" panose="020B0004020202020204" pitchFamily="34" charset="0"/>
              </a:rPr>
              <a:t>Vertex_Assets_Enriched.gdb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7268F5-FF34-9B87-ADCB-338A53F30523}"/>
              </a:ext>
            </a:extLst>
          </p:cNvPr>
          <p:cNvSpPr txBox="1"/>
          <p:nvPr/>
        </p:nvSpPr>
        <p:spPr>
          <a:xfrm>
            <a:off x="4686300" y="3949700"/>
            <a:ext cx="2781300" cy="559127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Lifecycle planning
4,154 inspections
271 repairs | 501 work orders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D45DD2-4AF5-8D2A-04DC-F2A778326B97}"/>
              </a:ext>
            </a:extLst>
          </p:cNvPr>
          <p:cNvCxnSpPr/>
          <p:nvPr/>
        </p:nvCxnSpPr>
        <p:spPr>
          <a:xfrm>
            <a:off x="7797800" y="3556000"/>
            <a:ext cx="355600" cy="0"/>
          </a:xfrm>
          <a:prstGeom prst="line">
            <a:avLst/>
          </a:prstGeom>
          <a:ln w="31750">
            <a:solidFill>
              <a:srgbClr val="E76F5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29A4505-82E4-408C-36A9-BBB4BD9602D3}"/>
              </a:ext>
            </a:extLst>
          </p:cNvPr>
          <p:cNvSpPr/>
          <p:nvPr/>
        </p:nvSpPr>
        <p:spPr>
          <a:xfrm>
            <a:off x="8267700" y="2057400"/>
            <a:ext cx="3289300" cy="299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B72D89B-21DF-6301-6408-1882F5E27A31}"/>
              </a:ext>
            </a:extLst>
          </p:cNvPr>
          <p:cNvSpPr/>
          <p:nvPr/>
        </p:nvSpPr>
        <p:spPr>
          <a:xfrm>
            <a:off x="8496300" y="2286000"/>
            <a:ext cx="533400" cy="5334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651170-C303-530C-BAA2-5B3438C1FFEB}"/>
              </a:ext>
            </a:extLst>
          </p:cNvPr>
          <p:cNvSpPr txBox="1"/>
          <p:nvPr/>
        </p:nvSpPr>
        <p:spPr>
          <a:xfrm>
            <a:off x="8496300" y="2387600"/>
            <a:ext cx="5334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E180346-76C1-C9B7-76B5-92AD3F9B9362}"/>
              </a:ext>
            </a:extLst>
          </p:cNvPr>
          <p:cNvSpPr/>
          <p:nvPr/>
        </p:nvSpPr>
        <p:spPr>
          <a:xfrm>
            <a:off x="9207500" y="2349500"/>
            <a:ext cx="2044700" cy="279400"/>
          </a:xfrm>
          <a:prstGeom prst="roundRect">
            <a:avLst/>
          </a:prstGeom>
          <a:solidFill>
            <a:srgbClr val="E1F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2BFDCD-E18A-3A18-D4AC-642439A4BB83}"/>
              </a:ext>
            </a:extLst>
          </p:cNvPr>
          <p:cNvSpPr txBox="1"/>
          <p:nvPr/>
        </p:nvSpPr>
        <p:spPr>
          <a:xfrm>
            <a:off x="9258300" y="2362200"/>
            <a:ext cx="19431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3D8361"/>
                </a:solidFill>
                <a:latin typeface="Aptos" panose="020B0004020202020204" pitchFamily="34" charset="0"/>
              </a:rPr>
              <a:t>SIX-FACILITY CATALOG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44FC8F-F454-2CEF-3318-A7F1C0988813}"/>
              </a:ext>
            </a:extLst>
          </p:cNvPr>
          <p:cNvSpPr txBox="1"/>
          <p:nvPr/>
        </p:nvSpPr>
        <p:spPr>
          <a:xfrm>
            <a:off x="8521700" y="3073400"/>
            <a:ext cx="27813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500" b="1">
                <a:solidFill>
                  <a:srgbClr val="17324D"/>
                </a:solidFill>
                <a:latin typeface="Aptos" panose="020B0004020202020204" pitchFamily="34" charset="0"/>
              </a:rPr>
              <a:t>Organizational_Asset_Catalog.gdb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932352-733F-E640-08D9-980B4659A05C}"/>
              </a:ext>
            </a:extLst>
          </p:cNvPr>
          <p:cNvSpPr txBox="1"/>
          <p:nvPr/>
        </p:nvSpPr>
        <p:spPr>
          <a:xfrm>
            <a:off x="8521700" y="3949700"/>
            <a:ext cx="2781300" cy="559127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Vertex preserved
Five generated facilities
4,852 lifecycle assets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BAAE01-D103-A39D-502C-8099D56768FC}"/>
              </a:ext>
            </a:extLst>
          </p:cNvPr>
          <p:cNvSpPr txBox="1"/>
          <p:nvPr/>
        </p:nvSpPr>
        <p:spPr>
          <a:xfrm>
            <a:off x="1181100" y="5435600"/>
            <a:ext cx="9817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17324D"/>
                </a:solidFill>
                <a:latin typeface="Aptos" panose="020B0004020202020204" pitchFamily="34" charset="0"/>
              </a:rPr>
              <a:t>GlobalIDs are remapped inside each output; stable business identifiers preserve cross-build identity.</a:t>
            </a:r>
          </a:p>
        </p:txBody>
      </p:sp>
    </p:spTree>
    <p:extLst>
      <p:ext uri="{BB962C8B-B14F-4D97-AF65-F5344CB8AC3E}">
        <p14:creationId xmlns:p14="http://schemas.microsoft.com/office/powerpoint/2010/main" val="2051978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C42AA7-0044-98CF-579D-38ECDC98AE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A1819D-ECD4-1D15-3B79-E225372AEFF8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0DF021-22DC-22D9-98CF-F0EC89BAB25A}"/>
              </a:ext>
            </a:extLst>
          </p:cNvPr>
          <p:cNvSpPr txBox="1"/>
          <p:nvPr/>
        </p:nvSpPr>
        <p:spPr>
          <a:xfrm>
            <a:off x="533400" y="304800"/>
            <a:ext cx="9652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0B7285"/>
                </a:solidFill>
                <a:latin typeface="Aptos" panose="020B0004020202020204" pitchFamily="34" charset="0"/>
              </a:rPr>
              <a:t>REVIEWED FACILITY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E8969C-0F4C-5F0D-C0E7-EC47E7376808}"/>
              </a:ext>
            </a:extLst>
          </p:cNvPr>
          <p:cNvSpPr txBox="1"/>
          <p:nvPr/>
        </p:nvSpPr>
        <p:spPr>
          <a:xfrm>
            <a:off x="533400" y="635000"/>
            <a:ext cx="10922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700" b="1">
                <a:solidFill>
                  <a:srgbClr val="17324D"/>
                </a:solidFill>
                <a:latin typeface="Aptos" panose="020B0004020202020204" pitchFamily="34" charset="0"/>
              </a:rPr>
              <a:t>Vertex enrichment adds history, not source edits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F66AB-1AFE-79C5-A2A7-CCBA2660A529}"/>
              </a:ext>
            </a:extLst>
          </p:cNvPr>
          <p:cNvSpPr txBox="1"/>
          <p:nvPr/>
        </p:nvSpPr>
        <p:spPr>
          <a:xfrm>
            <a:off x="558800" y="12573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Every planning value is synthetic, deterministic, and internally consistent.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EAEC0-94D2-4B31-344C-7B01A1A90B51}"/>
              </a:ext>
            </a:extLst>
          </p:cNvPr>
          <p:cNvSpPr txBox="1"/>
          <p:nvPr/>
        </p:nvSpPr>
        <p:spPr>
          <a:xfrm>
            <a:off x="533400" y="6502400"/>
            <a:ext cx="11049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>
                <a:solidFill>
                  <a:srgbClr val="5D6B75"/>
                </a:solidFill>
                <a:latin typeface="Aptos" panose="020B0004020202020204" pitchFamily="34" charset="0"/>
              </a:rPr>
              <a:t>INDOORS ASSET CATALOG  |  04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76DB0A-5278-833C-8D33-402AFFCDC2DD}"/>
              </a:ext>
            </a:extLst>
          </p:cNvPr>
          <p:cNvSpPr/>
          <p:nvPr/>
        </p:nvSpPr>
        <p:spPr>
          <a:xfrm>
            <a:off x="558800" y="1917700"/>
            <a:ext cx="3556000" cy="3873500"/>
          </a:xfrm>
          <a:prstGeom prst="roundRect">
            <a:avLst/>
          </a:prstGeom>
          <a:solidFill>
            <a:srgbClr val="17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502B58-1973-3C31-DB25-950A1240350C}"/>
              </a:ext>
            </a:extLst>
          </p:cNvPr>
          <p:cNvSpPr txBox="1"/>
          <p:nvPr/>
        </p:nvSpPr>
        <p:spPr>
          <a:xfrm>
            <a:off x="825500" y="2209800"/>
            <a:ext cx="2984500" cy="589905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Aptos" panose="020B0004020202020204" pitchFamily="34" charset="0"/>
              </a:rPr>
              <a:t>1,003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17A5B-B251-73AE-2221-29E486F85A45}"/>
              </a:ext>
            </a:extLst>
          </p:cNvPr>
          <p:cNvSpPr txBox="1"/>
          <p:nvPr/>
        </p:nvSpPr>
        <p:spPr>
          <a:xfrm>
            <a:off x="850900" y="2870200"/>
            <a:ext cx="2921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200">
                <a:solidFill>
                  <a:srgbClr val="DDF0F2"/>
                </a:solidFill>
                <a:latin typeface="Aptos" panose="020B0004020202020204" pitchFamily="34" charset="0"/>
              </a:rPr>
              <a:t>enriched indoor assets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105088-9DFE-4A39-2F82-63E12BD0336E}"/>
              </a:ext>
            </a:extLst>
          </p:cNvPr>
          <p:cNvCxnSpPr/>
          <p:nvPr/>
        </p:nvCxnSpPr>
        <p:spPr>
          <a:xfrm>
            <a:off x="850900" y="3390900"/>
            <a:ext cx="2908300" cy="0"/>
          </a:xfrm>
          <a:prstGeom prst="line">
            <a:avLst/>
          </a:prstGeom>
          <a:ln w="19050">
            <a:solidFill>
              <a:srgbClr val="0B72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CD5F9E4-E4E7-C41A-F7E0-1F7026E53210}"/>
              </a:ext>
            </a:extLst>
          </p:cNvPr>
          <p:cNvSpPr txBox="1"/>
          <p:nvPr/>
        </p:nvSpPr>
        <p:spPr>
          <a:xfrm>
            <a:off x="850900" y="3644900"/>
            <a:ext cx="12065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200" b="1">
                <a:solidFill>
                  <a:srgbClr val="E9B44C"/>
                </a:solidFill>
                <a:latin typeface="Aptos" panose="020B0004020202020204" pitchFamily="34" charset="0"/>
              </a:rPr>
              <a:t>4,154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2F1782-27EC-3F7A-02EB-F6955C827E6A}"/>
              </a:ext>
            </a:extLst>
          </p:cNvPr>
          <p:cNvSpPr txBox="1"/>
          <p:nvPr/>
        </p:nvSpPr>
        <p:spPr>
          <a:xfrm>
            <a:off x="2082800" y="3721100"/>
            <a:ext cx="1574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Aptos" panose="020B0004020202020204" pitchFamily="34" charset="0"/>
              </a:rPr>
              <a:t>inspections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8BEC85-22D3-92E3-BA17-27017A38DC30}"/>
              </a:ext>
            </a:extLst>
          </p:cNvPr>
          <p:cNvSpPr txBox="1"/>
          <p:nvPr/>
        </p:nvSpPr>
        <p:spPr>
          <a:xfrm>
            <a:off x="850900" y="4229100"/>
            <a:ext cx="12065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200" b="1">
                <a:solidFill>
                  <a:srgbClr val="E76F51"/>
                </a:solidFill>
                <a:latin typeface="Aptos" panose="020B0004020202020204" pitchFamily="34" charset="0"/>
              </a:rPr>
              <a:t>271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5B5ACA-B252-465B-0B42-69005E5CBE38}"/>
              </a:ext>
            </a:extLst>
          </p:cNvPr>
          <p:cNvSpPr txBox="1"/>
          <p:nvPr/>
        </p:nvSpPr>
        <p:spPr>
          <a:xfrm>
            <a:off x="2082800" y="4305300"/>
            <a:ext cx="1574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Aptos" panose="020B0004020202020204" pitchFamily="34" charset="0"/>
              </a:rPr>
              <a:t>repairs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524398-DD66-E241-F5DF-8F86F278591F}"/>
              </a:ext>
            </a:extLst>
          </p:cNvPr>
          <p:cNvSpPr txBox="1"/>
          <p:nvPr/>
        </p:nvSpPr>
        <p:spPr>
          <a:xfrm>
            <a:off x="850900" y="4813300"/>
            <a:ext cx="12065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200" b="1">
                <a:solidFill>
                  <a:srgbClr val="E1F1E7"/>
                </a:solidFill>
                <a:latin typeface="Aptos" panose="020B0004020202020204" pitchFamily="34" charset="0"/>
              </a:rPr>
              <a:t>501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17D2F2-DCB8-0CAA-309A-195DF2833831}"/>
              </a:ext>
            </a:extLst>
          </p:cNvPr>
          <p:cNvSpPr txBox="1"/>
          <p:nvPr/>
        </p:nvSpPr>
        <p:spPr>
          <a:xfrm>
            <a:off x="2082800" y="4889500"/>
            <a:ext cx="1574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Aptos" panose="020B0004020202020204" pitchFamily="34" charset="0"/>
              </a:rPr>
              <a:t>work orders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C33C80-52C6-990D-E1C1-6D991E57A0DB}"/>
              </a:ext>
            </a:extLst>
          </p:cNvPr>
          <p:cNvSpPr txBox="1"/>
          <p:nvPr/>
        </p:nvSpPr>
        <p:spPr>
          <a:xfrm>
            <a:off x="4584700" y="1955800"/>
            <a:ext cx="3048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500" b="1">
                <a:solidFill>
                  <a:srgbClr val="17324D"/>
                </a:solidFill>
                <a:latin typeface="Aptos" panose="020B0004020202020204" pitchFamily="34" charset="0"/>
              </a:rPr>
              <a:t>What is added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0B077AA-53B0-BD84-A78B-AE8421B951F6}"/>
              </a:ext>
            </a:extLst>
          </p:cNvPr>
          <p:cNvSpPr/>
          <p:nvPr/>
        </p:nvSpPr>
        <p:spPr>
          <a:xfrm>
            <a:off x="4635500" y="2603500"/>
            <a:ext cx="101600" cy="101600"/>
          </a:xfrm>
          <a:prstGeom prst="ellipse">
            <a:avLst/>
          </a:prstGeom>
          <a:solidFill>
            <a:srgbClr val="287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D7610E-82D8-F529-790D-D75149192570}"/>
              </a:ext>
            </a:extLst>
          </p:cNvPr>
          <p:cNvSpPr txBox="1"/>
          <p:nvPr/>
        </p:nvSpPr>
        <p:spPr>
          <a:xfrm>
            <a:off x="4851400" y="2514600"/>
            <a:ext cx="6515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Lifecycle stage, age, expected life, remaining life, and replacement year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74056EE-16D3-9661-AF11-8CAB3C65F54E}"/>
              </a:ext>
            </a:extLst>
          </p:cNvPr>
          <p:cNvSpPr/>
          <p:nvPr/>
        </p:nvSpPr>
        <p:spPr>
          <a:xfrm>
            <a:off x="4635500" y="3213100"/>
            <a:ext cx="101600" cy="101600"/>
          </a:xfrm>
          <a:prstGeom prst="ellipse">
            <a:avLst/>
          </a:prstGeom>
          <a:solidFill>
            <a:srgbClr val="287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155249-CC98-4FC0-B220-36052BB983B3}"/>
              </a:ext>
            </a:extLst>
          </p:cNvPr>
          <p:cNvSpPr txBox="1"/>
          <p:nvPr/>
        </p:nvSpPr>
        <p:spPr>
          <a:xfrm>
            <a:off x="4851400" y="3124200"/>
            <a:ext cx="6515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Inspection cadence, next maintenance, condition, criticality, and risk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DD2CD41-D2DE-8521-DE98-DA556F0D3531}"/>
              </a:ext>
            </a:extLst>
          </p:cNvPr>
          <p:cNvSpPr/>
          <p:nvPr/>
        </p:nvSpPr>
        <p:spPr>
          <a:xfrm>
            <a:off x="4635500" y="3822700"/>
            <a:ext cx="101600" cy="101600"/>
          </a:xfrm>
          <a:prstGeom prst="ellipse">
            <a:avLst/>
          </a:prstGeom>
          <a:solidFill>
            <a:srgbClr val="287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CFC048-6F59-DD9F-B1AA-E1F81F9C5670}"/>
              </a:ext>
            </a:extLst>
          </p:cNvPr>
          <p:cNvSpPr txBox="1"/>
          <p:nvPr/>
        </p:nvSpPr>
        <p:spPr>
          <a:xfrm>
            <a:off x="4851400" y="3733800"/>
            <a:ext cx="6515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Purchase cost, replacement estimate, vendor, model, and warranty status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302426B-95C2-ADB1-6DC2-92FF2A70A097}"/>
              </a:ext>
            </a:extLst>
          </p:cNvPr>
          <p:cNvSpPr/>
          <p:nvPr/>
        </p:nvSpPr>
        <p:spPr>
          <a:xfrm>
            <a:off x="4635500" y="4432300"/>
            <a:ext cx="101600" cy="101600"/>
          </a:xfrm>
          <a:prstGeom prst="ellipse">
            <a:avLst/>
          </a:prstGeom>
          <a:solidFill>
            <a:srgbClr val="287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58D1B7-6FD7-7423-950F-604D7A55250B}"/>
              </a:ext>
            </a:extLst>
          </p:cNvPr>
          <p:cNvSpPr txBox="1"/>
          <p:nvPr/>
        </p:nvSpPr>
        <p:spPr>
          <a:xfrm>
            <a:off x="4851400" y="4343400"/>
            <a:ext cx="6515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Inspection, repair, and work-order histories with direct asset relationships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DCFCF54-FC1D-1301-7FB4-FFF97A63140D}"/>
              </a:ext>
            </a:extLst>
          </p:cNvPr>
          <p:cNvSpPr/>
          <p:nvPr/>
        </p:nvSpPr>
        <p:spPr>
          <a:xfrm>
            <a:off x="4635500" y="5029200"/>
            <a:ext cx="6375400" cy="762000"/>
          </a:xfrm>
          <a:prstGeom prst="roundRect">
            <a:avLst/>
          </a:prstGeom>
          <a:solidFill>
            <a:srgbClr val="FBF1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9544F2-7269-CBF9-AAD4-5EE1D98ADBC2}"/>
              </a:ext>
            </a:extLst>
          </p:cNvPr>
          <p:cNvSpPr txBox="1"/>
          <p:nvPr/>
        </p:nvSpPr>
        <p:spPr>
          <a:xfrm>
            <a:off x="4902200" y="5245100"/>
            <a:ext cx="584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200" b="1">
                <a:solidFill>
                  <a:srgbClr val="17324D"/>
                </a:solidFill>
                <a:latin typeface="Aptos" panose="020B0004020202020204" pitchFamily="34" charset="0"/>
              </a:rPr>
              <a:t>Source geometry and Indoors hierarchy remain unchanged.</a:t>
            </a:r>
          </a:p>
        </p:txBody>
      </p:sp>
    </p:spTree>
    <p:extLst>
      <p:ext uri="{BB962C8B-B14F-4D97-AF65-F5344CB8AC3E}">
        <p14:creationId xmlns:p14="http://schemas.microsoft.com/office/powerpoint/2010/main" val="26207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8A9355-9120-8C60-9E1E-41F4BCCF5E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42E505-26F2-4DBA-FE79-72B226DF784F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7CF5C-FBAD-BF55-3B84-454175490F29}"/>
              </a:ext>
            </a:extLst>
          </p:cNvPr>
          <p:cNvSpPr txBox="1"/>
          <p:nvPr/>
        </p:nvSpPr>
        <p:spPr>
          <a:xfrm>
            <a:off x="533400" y="304800"/>
            <a:ext cx="9652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0B7285"/>
                </a:solidFill>
                <a:latin typeface="Aptos" panose="020B0004020202020204" pitchFamily="34" charset="0"/>
              </a:rPr>
              <a:t>PROCEDURAL FACILITIES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5DAA2-0D03-E518-BCA5-044476B8CF49}"/>
              </a:ext>
            </a:extLst>
          </p:cNvPr>
          <p:cNvSpPr txBox="1"/>
          <p:nvPr/>
        </p:nvSpPr>
        <p:spPr>
          <a:xfrm>
            <a:off x="533400" y="635000"/>
            <a:ext cx="10922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700" b="1">
                <a:solidFill>
                  <a:srgbClr val="17324D"/>
                </a:solidFill>
                <a:latin typeface="Aptos" panose="020B0004020202020204" pitchFamily="34" charset="0"/>
              </a:rPr>
              <a:t>Scale without CAD or manual room inventories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136AE-1DFB-C297-BC68-4A519327BC56}"/>
              </a:ext>
            </a:extLst>
          </p:cNvPr>
          <p:cNvSpPr txBox="1"/>
          <p:nvPr/>
        </p:nvSpPr>
        <p:spPr>
          <a:xfrm>
            <a:off x="558800" y="12573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The floor-plan planner is deterministic, dependency-free, and profile-driven.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BAE2BA-0A60-0FD2-3BA9-95546E71161C}"/>
              </a:ext>
            </a:extLst>
          </p:cNvPr>
          <p:cNvSpPr txBox="1"/>
          <p:nvPr/>
        </p:nvSpPr>
        <p:spPr>
          <a:xfrm>
            <a:off x="533400" y="6502400"/>
            <a:ext cx="11049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>
                <a:solidFill>
                  <a:srgbClr val="5D6B75"/>
                </a:solidFill>
                <a:latin typeface="Aptos" panose="020B0004020202020204" pitchFamily="34" charset="0"/>
              </a:rPr>
              <a:t>INDOORS ASSET CATALOG  |  05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49CD3D-6089-75FC-0517-99D4BC5BE693}"/>
              </a:ext>
            </a:extLst>
          </p:cNvPr>
          <p:cNvSpPr/>
          <p:nvPr/>
        </p:nvSpPr>
        <p:spPr>
          <a:xfrm>
            <a:off x="558800" y="1917700"/>
            <a:ext cx="6680200" cy="3873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14DD9-7F7C-4E3B-CDFC-12FB54759BCB}"/>
              </a:ext>
            </a:extLst>
          </p:cNvPr>
          <p:cNvSpPr txBox="1"/>
          <p:nvPr/>
        </p:nvSpPr>
        <p:spPr>
          <a:xfrm>
            <a:off x="825500" y="2120900"/>
            <a:ext cx="317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200" b="1">
                <a:solidFill>
                  <a:srgbClr val="17324D"/>
                </a:solidFill>
                <a:latin typeface="Aptos" panose="020B0004020202020204" pitchFamily="34" charset="0"/>
              </a:rPr>
              <a:t>Representative generated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638024-3584-5C5B-26BA-5E1179E4FECF}"/>
              </a:ext>
            </a:extLst>
          </p:cNvPr>
          <p:cNvSpPr/>
          <p:nvPr/>
        </p:nvSpPr>
        <p:spPr>
          <a:xfrm>
            <a:off x="927100" y="2641600"/>
            <a:ext cx="5943600" cy="2743200"/>
          </a:xfrm>
          <a:prstGeom prst="rect">
            <a:avLst/>
          </a:prstGeom>
          <a:solidFill>
            <a:srgbClr val="E4EEF8"/>
          </a:solidFill>
          <a:ln w="10160">
            <a:solidFill>
              <a:srgbClr val="1732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6F0298-28EE-A369-FF53-7A8C80FFCEA4}"/>
              </a:ext>
            </a:extLst>
          </p:cNvPr>
          <p:cNvSpPr/>
          <p:nvPr/>
        </p:nvSpPr>
        <p:spPr>
          <a:xfrm>
            <a:off x="1066800" y="2781300"/>
            <a:ext cx="812800" cy="723900"/>
          </a:xfrm>
          <a:prstGeom prst="roundRect">
            <a:avLst/>
          </a:prstGeom>
          <a:solidFill>
            <a:srgbClr val="DDF0F2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7DCB9D-F8D3-7FBD-AE34-7A1DBBB3A157}"/>
              </a:ext>
            </a:extLst>
          </p:cNvPr>
          <p:cNvSpPr txBox="1"/>
          <p:nvPr/>
        </p:nvSpPr>
        <p:spPr>
          <a:xfrm>
            <a:off x="1104900" y="3022600"/>
            <a:ext cx="7366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750" b="1">
                <a:solidFill>
                  <a:srgbClr val="17324D"/>
                </a:solidFill>
                <a:latin typeface="Aptos" panose="020B0004020202020204" pitchFamily="34" charset="0"/>
              </a:rPr>
              <a:t>EXAM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7B623F4-03F2-A58A-1FAE-885B556CF4DB}"/>
              </a:ext>
            </a:extLst>
          </p:cNvPr>
          <p:cNvSpPr/>
          <p:nvPr/>
        </p:nvSpPr>
        <p:spPr>
          <a:xfrm>
            <a:off x="1993900" y="2781300"/>
            <a:ext cx="812800" cy="723900"/>
          </a:xfrm>
          <a:prstGeom prst="roundRect">
            <a:avLst/>
          </a:prstGeom>
          <a:solidFill>
            <a:srgbClr val="E1F1E7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2CDED2-DE27-1483-53A2-1444E65FBD53}"/>
              </a:ext>
            </a:extLst>
          </p:cNvPr>
          <p:cNvSpPr txBox="1"/>
          <p:nvPr/>
        </p:nvSpPr>
        <p:spPr>
          <a:xfrm>
            <a:off x="2032000" y="3022600"/>
            <a:ext cx="7366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750" b="1">
                <a:solidFill>
                  <a:srgbClr val="17324D"/>
                </a:solidFill>
                <a:latin typeface="Aptos" panose="020B0004020202020204" pitchFamily="34" charset="0"/>
              </a:rPr>
              <a:t>OFFICE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F11B58F-E5EB-1F37-A85B-7A721B094EC8}"/>
              </a:ext>
            </a:extLst>
          </p:cNvPr>
          <p:cNvSpPr/>
          <p:nvPr/>
        </p:nvSpPr>
        <p:spPr>
          <a:xfrm>
            <a:off x="2921000" y="2781300"/>
            <a:ext cx="812800" cy="723900"/>
          </a:xfrm>
          <a:prstGeom prst="roundRect">
            <a:avLst/>
          </a:prstGeom>
          <a:solidFill>
            <a:srgbClr val="FBF1D4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74A9C4-F148-663F-7D45-4662961E56FC}"/>
              </a:ext>
            </a:extLst>
          </p:cNvPr>
          <p:cNvSpPr txBox="1"/>
          <p:nvPr/>
        </p:nvSpPr>
        <p:spPr>
          <a:xfrm>
            <a:off x="2959100" y="3022600"/>
            <a:ext cx="7366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750" b="1">
                <a:solidFill>
                  <a:srgbClr val="17324D"/>
                </a:solidFill>
                <a:latin typeface="Aptos" panose="020B0004020202020204" pitchFamily="34" charset="0"/>
              </a:rPr>
              <a:t>STORAGE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7622D0-2DB8-C540-ED6E-E7E4B368D449}"/>
              </a:ext>
            </a:extLst>
          </p:cNvPr>
          <p:cNvSpPr/>
          <p:nvPr/>
        </p:nvSpPr>
        <p:spPr>
          <a:xfrm>
            <a:off x="3848100" y="2781300"/>
            <a:ext cx="812800" cy="723900"/>
          </a:xfrm>
          <a:prstGeom prst="roundRect">
            <a:avLst/>
          </a:prstGeom>
          <a:solidFill>
            <a:srgbClr val="FCE6E0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3B19EE-EEDC-099E-A808-8BAE57DB1F87}"/>
              </a:ext>
            </a:extLst>
          </p:cNvPr>
          <p:cNvSpPr txBox="1"/>
          <p:nvPr/>
        </p:nvSpPr>
        <p:spPr>
          <a:xfrm>
            <a:off x="3886200" y="3022600"/>
            <a:ext cx="7366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750" b="1">
                <a:solidFill>
                  <a:srgbClr val="17324D"/>
                </a:solidFill>
                <a:latin typeface="Aptos" panose="020B0004020202020204" pitchFamily="34" charset="0"/>
              </a:rPr>
              <a:t>ELEC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D3D4F16-B32A-A578-926F-EA951D97F951}"/>
              </a:ext>
            </a:extLst>
          </p:cNvPr>
          <p:cNvSpPr/>
          <p:nvPr/>
        </p:nvSpPr>
        <p:spPr>
          <a:xfrm>
            <a:off x="4775200" y="2781300"/>
            <a:ext cx="812800" cy="723900"/>
          </a:xfrm>
          <a:prstGeom prst="roundRect">
            <a:avLst/>
          </a:prstGeom>
          <a:solidFill>
            <a:srgbClr val="DDF0F2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29D29C-C618-D32C-6903-051AE11D809E}"/>
              </a:ext>
            </a:extLst>
          </p:cNvPr>
          <p:cNvSpPr txBox="1"/>
          <p:nvPr/>
        </p:nvSpPr>
        <p:spPr>
          <a:xfrm>
            <a:off x="4813300" y="3022600"/>
            <a:ext cx="7366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750" b="1">
                <a:solidFill>
                  <a:srgbClr val="17324D"/>
                </a:solidFill>
                <a:latin typeface="Aptos" panose="020B0004020202020204" pitchFamily="34" charset="0"/>
              </a:rPr>
              <a:t>MECH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1CC4E59-DADF-7F58-EEA8-A0845F49FB90}"/>
              </a:ext>
            </a:extLst>
          </p:cNvPr>
          <p:cNvSpPr/>
          <p:nvPr/>
        </p:nvSpPr>
        <p:spPr>
          <a:xfrm>
            <a:off x="5702300" y="2781300"/>
            <a:ext cx="812800" cy="723900"/>
          </a:xfrm>
          <a:prstGeom prst="roundRect">
            <a:avLst/>
          </a:prstGeom>
          <a:solidFill>
            <a:srgbClr val="E1F1E7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AB4633-6C19-F866-13C5-6F1433109BA9}"/>
              </a:ext>
            </a:extLst>
          </p:cNvPr>
          <p:cNvSpPr txBox="1"/>
          <p:nvPr/>
        </p:nvSpPr>
        <p:spPr>
          <a:xfrm>
            <a:off x="5740400" y="3022600"/>
            <a:ext cx="7366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750" b="1">
                <a:solidFill>
                  <a:srgbClr val="17324D"/>
                </a:solidFill>
                <a:latin typeface="Aptos" panose="020B0004020202020204" pitchFamily="34" charset="0"/>
              </a:rPr>
              <a:t>TELECOM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7F3B6D6-1D10-79A5-8278-B86B26B92F3A}"/>
              </a:ext>
            </a:extLst>
          </p:cNvPr>
          <p:cNvSpPr/>
          <p:nvPr/>
        </p:nvSpPr>
        <p:spPr>
          <a:xfrm>
            <a:off x="1066800" y="4394200"/>
            <a:ext cx="812800" cy="723900"/>
          </a:xfrm>
          <a:prstGeom prst="roundRect">
            <a:avLst/>
          </a:prstGeom>
          <a:solidFill>
            <a:srgbClr val="E1F1E7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A7E0F2-E9B9-1921-F76A-7040B1B13CDC}"/>
              </a:ext>
            </a:extLst>
          </p:cNvPr>
          <p:cNvSpPr txBox="1"/>
          <p:nvPr/>
        </p:nvSpPr>
        <p:spPr>
          <a:xfrm>
            <a:off x="1104900" y="4635500"/>
            <a:ext cx="7366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750" b="1">
                <a:solidFill>
                  <a:srgbClr val="17324D"/>
                </a:solidFill>
                <a:latin typeface="Aptos" panose="020B0004020202020204" pitchFamily="34" charset="0"/>
              </a:rPr>
              <a:t>ELEC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BD7AED4-843E-96F0-8A82-ECF693226A06}"/>
              </a:ext>
            </a:extLst>
          </p:cNvPr>
          <p:cNvSpPr/>
          <p:nvPr/>
        </p:nvSpPr>
        <p:spPr>
          <a:xfrm>
            <a:off x="1993900" y="4394200"/>
            <a:ext cx="812800" cy="723900"/>
          </a:xfrm>
          <a:prstGeom prst="roundRect">
            <a:avLst/>
          </a:prstGeom>
          <a:solidFill>
            <a:srgbClr val="FBF1D4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A5928E-23AF-FA16-C958-403B140623CF}"/>
              </a:ext>
            </a:extLst>
          </p:cNvPr>
          <p:cNvSpPr txBox="1"/>
          <p:nvPr/>
        </p:nvSpPr>
        <p:spPr>
          <a:xfrm>
            <a:off x="2032000" y="4635500"/>
            <a:ext cx="7366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750" b="1">
                <a:solidFill>
                  <a:srgbClr val="17324D"/>
                </a:solidFill>
                <a:latin typeface="Aptos" panose="020B0004020202020204" pitchFamily="34" charset="0"/>
              </a:rPr>
              <a:t>MECH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1ED02B4-7360-2363-6F4B-F7E0DCEC524C}"/>
              </a:ext>
            </a:extLst>
          </p:cNvPr>
          <p:cNvSpPr/>
          <p:nvPr/>
        </p:nvSpPr>
        <p:spPr>
          <a:xfrm>
            <a:off x="2921000" y="4394200"/>
            <a:ext cx="812800" cy="723900"/>
          </a:xfrm>
          <a:prstGeom prst="roundRect">
            <a:avLst/>
          </a:prstGeom>
          <a:solidFill>
            <a:srgbClr val="FCE6E0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9E1213-2789-4AB8-1839-AC19152B1C36}"/>
              </a:ext>
            </a:extLst>
          </p:cNvPr>
          <p:cNvSpPr txBox="1"/>
          <p:nvPr/>
        </p:nvSpPr>
        <p:spPr>
          <a:xfrm>
            <a:off x="2959100" y="4635500"/>
            <a:ext cx="7366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750" b="1">
                <a:solidFill>
                  <a:srgbClr val="17324D"/>
                </a:solidFill>
                <a:latin typeface="Aptos" panose="020B0004020202020204" pitchFamily="34" charset="0"/>
              </a:rPr>
              <a:t>TELECOM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19D8ED9-B561-F3B3-9D7E-4A5CF2433D7E}"/>
              </a:ext>
            </a:extLst>
          </p:cNvPr>
          <p:cNvSpPr/>
          <p:nvPr/>
        </p:nvSpPr>
        <p:spPr>
          <a:xfrm>
            <a:off x="3848100" y="4394200"/>
            <a:ext cx="812800" cy="723900"/>
          </a:xfrm>
          <a:prstGeom prst="roundRect">
            <a:avLst/>
          </a:prstGeom>
          <a:solidFill>
            <a:srgbClr val="DDF0F2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9CB49C-5493-8BFC-989A-FF98FED5E1A2}"/>
              </a:ext>
            </a:extLst>
          </p:cNvPr>
          <p:cNvSpPr txBox="1"/>
          <p:nvPr/>
        </p:nvSpPr>
        <p:spPr>
          <a:xfrm>
            <a:off x="3886200" y="4635500"/>
            <a:ext cx="7366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750" b="1">
                <a:solidFill>
                  <a:srgbClr val="17324D"/>
                </a:solidFill>
                <a:latin typeface="Aptos" panose="020B0004020202020204" pitchFamily="34" charset="0"/>
              </a:rPr>
              <a:t>EXAM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7942932-E397-61AB-DD06-31DA739FB734}"/>
              </a:ext>
            </a:extLst>
          </p:cNvPr>
          <p:cNvSpPr/>
          <p:nvPr/>
        </p:nvSpPr>
        <p:spPr>
          <a:xfrm>
            <a:off x="4775200" y="4394200"/>
            <a:ext cx="812800" cy="723900"/>
          </a:xfrm>
          <a:prstGeom prst="roundRect">
            <a:avLst/>
          </a:prstGeom>
          <a:solidFill>
            <a:srgbClr val="E1F1E7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B000E5-2CAA-B842-5B81-E51ACC4CD1EA}"/>
              </a:ext>
            </a:extLst>
          </p:cNvPr>
          <p:cNvSpPr txBox="1"/>
          <p:nvPr/>
        </p:nvSpPr>
        <p:spPr>
          <a:xfrm>
            <a:off x="4813300" y="4635500"/>
            <a:ext cx="7366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750" b="1">
                <a:solidFill>
                  <a:srgbClr val="17324D"/>
                </a:solidFill>
                <a:latin typeface="Aptos" panose="020B0004020202020204" pitchFamily="34" charset="0"/>
              </a:rPr>
              <a:t>OFFICE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25E51AE-6A41-A676-7048-8054EB754914}"/>
              </a:ext>
            </a:extLst>
          </p:cNvPr>
          <p:cNvSpPr/>
          <p:nvPr/>
        </p:nvSpPr>
        <p:spPr>
          <a:xfrm>
            <a:off x="5702300" y="4394200"/>
            <a:ext cx="812800" cy="723900"/>
          </a:xfrm>
          <a:prstGeom prst="roundRect">
            <a:avLst/>
          </a:prstGeom>
          <a:solidFill>
            <a:srgbClr val="FBF1D4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863EE0-5639-153B-BD13-BBCD0A30C643}"/>
              </a:ext>
            </a:extLst>
          </p:cNvPr>
          <p:cNvSpPr txBox="1"/>
          <p:nvPr/>
        </p:nvSpPr>
        <p:spPr>
          <a:xfrm>
            <a:off x="5740400" y="4635500"/>
            <a:ext cx="7366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750" b="1">
                <a:solidFill>
                  <a:srgbClr val="17324D"/>
                </a:solidFill>
                <a:latin typeface="Aptos" panose="020B0004020202020204" pitchFamily="34" charset="0"/>
              </a:rPr>
              <a:t>STORAGE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666FF87-9DF5-9708-C543-99473CFF7DBF}"/>
              </a:ext>
            </a:extLst>
          </p:cNvPr>
          <p:cNvSpPr/>
          <p:nvPr/>
        </p:nvSpPr>
        <p:spPr>
          <a:xfrm>
            <a:off x="1066800" y="3644900"/>
            <a:ext cx="5448300" cy="571500"/>
          </a:xfrm>
          <a:prstGeom prst="roundRect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CCE0B1-7213-F069-FC7F-95484E498462}"/>
              </a:ext>
            </a:extLst>
          </p:cNvPr>
          <p:cNvSpPr txBox="1"/>
          <p:nvPr/>
        </p:nvSpPr>
        <p:spPr>
          <a:xfrm>
            <a:off x="1270000" y="3797300"/>
            <a:ext cx="50419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CENTRAL CORRIDOR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5203E91-DF94-4A03-F623-173AAA10342C}"/>
              </a:ext>
            </a:extLst>
          </p:cNvPr>
          <p:cNvSpPr/>
          <p:nvPr/>
        </p:nvSpPr>
        <p:spPr>
          <a:xfrm>
            <a:off x="6540500" y="3644900"/>
            <a:ext cx="190500" cy="571500"/>
          </a:xfrm>
          <a:prstGeom prst="rect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5F202D1-2F6B-6C28-0ECD-57DA729885BD}"/>
              </a:ext>
            </a:extLst>
          </p:cNvPr>
          <p:cNvSpPr/>
          <p:nvPr/>
        </p:nvSpPr>
        <p:spPr>
          <a:xfrm>
            <a:off x="7594600" y="1917700"/>
            <a:ext cx="3962400" cy="3873500"/>
          </a:xfrm>
          <a:prstGeom prst="roundRect">
            <a:avLst/>
          </a:prstGeom>
          <a:solidFill>
            <a:srgbClr val="17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AA7DE6-4593-35B4-519A-D6D97FDE21C2}"/>
              </a:ext>
            </a:extLst>
          </p:cNvPr>
          <p:cNvSpPr txBox="1"/>
          <p:nvPr/>
        </p:nvSpPr>
        <p:spPr>
          <a:xfrm>
            <a:off x="7899400" y="2184400"/>
            <a:ext cx="317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Inputs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5B73BFE-3282-B265-4336-35AB8C3FB11F}"/>
              </a:ext>
            </a:extLst>
          </p:cNvPr>
          <p:cNvSpPr/>
          <p:nvPr/>
        </p:nvSpPr>
        <p:spPr>
          <a:xfrm>
            <a:off x="7924800" y="27559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706901-C115-A336-2FDD-6D855851696A}"/>
              </a:ext>
            </a:extLst>
          </p:cNvPr>
          <p:cNvSpPr txBox="1"/>
          <p:nvPr/>
        </p:nvSpPr>
        <p:spPr>
          <a:xfrm>
            <a:off x="8140700" y="2667000"/>
            <a:ext cx="29591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FFFFFF"/>
                </a:solidFill>
                <a:latin typeface="Aptos" panose="020B0004020202020204" pitchFamily="34" charset="0"/>
              </a:rPr>
              <a:t>Facility identity and seed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BF3EB8C-95C1-19CD-ACF4-B0B2CD35B0CF}"/>
              </a:ext>
            </a:extLst>
          </p:cNvPr>
          <p:cNvSpPr/>
          <p:nvPr/>
        </p:nvSpPr>
        <p:spPr>
          <a:xfrm>
            <a:off x="7924800" y="31877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8DA939-2656-418A-FB9A-A3AF6200C46C}"/>
              </a:ext>
            </a:extLst>
          </p:cNvPr>
          <p:cNvSpPr txBox="1"/>
          <p:nvPr/>
        </p:nvSpPr>
        <p:spPr>
          <a:xfrm>
            <a:off x="8140700" y="3098800"/>
            <a:ext cx="29591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FFFFFF"/>
                </a:solidFill>
                <a:latin typeface="Aptos" panose="020B0004020202020204" pitchFamily="34" charset="0"/>
              </a:rPr>
              <a:t>Hospital or office profile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2FF1FAD-8D29-5626-7803-E17B3F08C959}"/>
              </a:ext>
            </a:extLst>
          </p:cNvPr>
          <p:cNvSpPr/>
          <p:nvPr/>
        </p:nvSpPr>
        <p:spPr>
          <a:xfrm>
            <a:off x="7924800" y="36195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8D672C-B0B5-275B-8D4F-101D9E5CA52B}"/>
              </a:ext>
            </a:extLst>
          </p:cNvPr>
          <p:cNvSpPr txBox="1"/>
          <p:nvPr/>
        </p:nvSpPr>
        <p:spPr>
          <a:xfrm>
            <a:off x="8140700" y="3530600"/>
            <a:ext cx="29591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FFFFFF"/>
                </a:solidFill>
                <a:latin typeface="Aptos" panose="020B0004020202020204" pitchFamily="34" charset="0"/>
              </a:rPr>
              <a:t>Vertex spatial reference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FF2BAF7-7EBF-0783-B0D8-F671FD113FAA}"/>
              </a:ext>
            </a:extLst>
          </p:cNvPr>
          <p:cNvSpPr/>
          <p:nvPr/>
        </p:nvSpPr>
        <p:spPr>
          <a:xfrm>
            <a:off x="7924800" y="40513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C28A60-BCE1-CF70-9AEF-9DD46FB343B9}"/>
              </a:ext>
            </a:extLst>
          </p:cNvPr>
          <p:cNvSpPr txBox="1"/>
          <p:nvPr/>
        </p:nvSpPr>
        <p:spPr>
          <a:xfrm>
            <a:off x="8140700" y="3962400"/>
            <a:ext cx="29591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FFFFFF"/>
                </a:solidFill>
                <a:latin typeface="Aptos" panose="020B0004020202020204" pitchFamily="34" charset="0"/>
              </a:rPr>
              <a:t>Synthetic geographic anchor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2847A08-84F8-237B-BC2F-17219F805F90}"/>
              </a:ext>
            </a:extLst>
          </p:cNvPr>
          <p:cNvSpPr txBox="1"/>
          <p:nvPr/>
        </p:nvSpPr>
        <p:spPr>
          <a:xfrm>
            <a:off x="7899400" y="4470400"/>
            <a:ext cx="317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Outputs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C4041B-1D25-37B8-9729-841DC9B62C6D}"/>
              </a:ext>
            </a:extLst>
          </p:cNvPr>
          <p:cNvSpPr txBox="1"/>
          <p:nvPr/>
        </p:nvSpPr>
        <p:spPr>
          <a:xfrm>
            <a:off x="7924800" y="4876800"/>
            <a:ext cx="3149600" cy="37446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DDF0F2"/>
                </a:solidFill>
                <a:latin typeface="Aptos" panose="020B0004020202020204" pitchFamily="34" charset="0"/>
              </a:rPr>
              <a:t>Stable levels, rooms, names, use types, capacities, amenities, and asset allocation.</a:t>
            </a:r>
          </a:p>
        </p:txBody>
      </p:sp>
    </p:spTree>
    <p:extLst>
      <p:ext uri="{BB962C8B-B14F-4D97-AF65-F5344CB8AC3E}">
        <p14:creationId xmlns:p14="http://schemas.microsoft.com/office/powerpoint/2010/main" val="3203888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9DE36C-8515-C6CB-F261-7F51A9EF39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117556-54C4-F9B9-8A99-04BF5074F0D4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66B774-D73D-BB94-2686-0F7769900E5A}"/>
              </a:ext>
            </a:extLst>
          </p:cNvPr>
          <p:cNvSpPr txBox="1"/>
          <p:nvPr/>
        </p:nvSpPr>
        <p:spPr>
          <a:xfrm>
            <a:off x="533400" y="304800"/>
            <a:ext cx="9652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0B7285"/>
                </a:solidFill>
                <a:latin typeface="Aptos" panose="020B0004020202020204" pitchFamily="34" charset="0"/>
              </a:rPr>
              <a:t>VALIDATED CATALOG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88F4F5-02DE-FE7A-B85D-78232A7A6484}"/>
              </a:ext>
            </a:extLst>
          </p:cNvPr>
          <p:cNvSpPr txBox="1"/>
          <p:nvPr/>
        </p:nvSpPr>
        <p:spPr>
          <a:xfrm>
            <a:off x="533400" y="635000"/>
            <a:ext cx="10922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700" b="1">
                <a:solidFill>
                  <a:srgbClr val="17324D"/>
                </a:solidFill>
                <a:latin typeface="Aptos" panose="020B0004020202020204" pitchFamily="34" charset="0"/>
              </a:rPr>
              <a:t>Six facilities form one comparable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647482-2B76-6B37-A6AD-1CF7BE5EC575}"/>
              </a:ext>
            </a:extLst>
          </p:cNvPr>
          <p:cNvSpPr txBox="1"/>
          <p:nvPr/>
        </p:nvSpPr>
        <p:spPr>
          <a:xfrm>
            <a:off x="558800" y="12573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Indoor asset counts vary with room programs rather than cloned floor plans.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B5618-6032-C904-2579-39BC6D983016}"/>
              </a:ext>
            </a:extLst>
          </p:cNvPr>
          <p:cNvSpPr txBox="1"/>
          <p:nvPr/>
        </p:nvSpPr>
        <p:spPr>
          <a:xfrm>
            <a:off x="533400" y="6502400"/>
            <a:ext cx="11049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>
                <a:solidFill>
                  <a:srgbClr val="5D6B75"/>
                </a:solidFill>
                <a:latin typeface="Aptos" panose="020B0004020202020204" pitchFamily="34" charset="0"/>
              </a:rPr>
              <a:t>INDOORS ASSET CATALOG  |  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4E164D-6F32-2273-48DE-425AEFA0B1B6}"/>
              </a:ext>
            </a:extLst>
          </p:cNvPr>
          <p:cNvSpPr txBox="1"/>
          <p:nvPr/>
        </p:nvSpPr>
        <p:spPr>
          <a:xfrm>
            <a:off x="584200" y="1993900"/>
            <a:ext cx="6096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 b="1">
                <a:solidFill>
                  <a:srgbClr val="0B7285"/>
                </a:solidFill>
                <a:latin typeface="Aptos" panose="020B0004020202020204" pitchFamily="34" charset="0"/>
              </a:rPr>
              <a:t>VMC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0AC6EA-43D2-6C53-A1DF-782C9AF9CF81}"/>
              </a:ext>
            </a:extLst>
          </p:cNvPr>
          <p:cNvSpPr txBox="1"/>
          <p:nvPr/>
        </p:nvSpPr>
        <p:spPr>
          <a:xfrm>
            <a:off x="1155700" y="1955800"/>
            <a:ext cx="21971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 b="1">
                <a:solidFill>
                  <a:srgbClr val="1F2D38"/>
                </a:solidFill>
                <a:latin typeface="Aptos" panose="020B0004020202020204" pitchFamily="34" charset="0"/>
              </a:rPr>
              <a:t>Vertex Medical Center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E90E9D-5A0F-D3E5-41F3-A42A89F0132A}"/>
              </a:ext>
            </a:extLst>
          </p:cNvPr>
          <p:cNvSpPr/>
          <p:nvPr/>
        </p:nvSpPr>
        <p:spPr>
          <a:xfrm>
            <a:off x="3416300" y="1981200"/>
            <a:ext cx="5334000" cy="254000"/>
          </a:xfrm>
          <a:prstGeom prst="roundRect">
            <a:avLst/>
          </a:prstGeom>
          <a:solidFill>
            <a:srgbClr val="D4DE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2FB318-8045-E7F1-9470-95E35CECED53}"/>
              </a:ext>
            </a:extLst>
          </p:cNvPr>
          <p:cNvSpPr/>
          <p:nvPr/>
        </p:nvSpPr>
        <p:spPr>
          <a:xfrm>
            <a:off x="3416300" y="1981200"/>
            <a:ext cx="4600173" cy="254000"/>
          </a:xfrm>
          <a:prstGeom prst="round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CB4390-3D5A-3727-338B-4640EFA44CF1}"/>
              </a:ext>
            </a:extLst>
          </p:cNvPr>
          <p:cNvSpPr txBox="1"/>
          <p:nvPr/>
        </p:nvSpPr>
        <p:spPr>
          <a:xfrm>
            <a:off x="8890000" y="1943100"/>
            <a:ext cx="889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r"/>
            <a:r>
              <a:rPr lang="en-US" sz="1050" b="1">
                <a:solidFill>
                  <a:srgbClr val="17324D"/>
                </a:solidFill>
                <a:latin typeface="Aptos" panose="020B0004020202020204" pitchFamily="34" charset="0"/>
              </a:rPr>
              <a:t>1,003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2746D0-7430-B851-0A3C-B0C77488C3F5}"/>
              </a:ext>
            </a:extLst>
          </p:cNvPr>
          <p:cNvSpPr txBox="1"/>
          <p:nvPr/>
        </p:nvSpPr>
        <p:spPr>
          <a:xfrm>
            <a:off x="9918700" y="1943100"/>
            <a:ext cx="9398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r"/>
            <a:r>
              <a:rPr lang="en-US" sz="900">
                <a:solidFill>
                  <a:srgbClr val="5D6B75"/>
                </a:solidFill>
                <a:latin typeface="Aptos" panose="020B0004020202020204" pitchFamily="34" charset="0"/>
              </a:rPr>
              <a:t>286 units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6D5F79-87E4-7EE2-DE4E-D1198217DF07}"/>
              </a:ext>
            </a:extLst>
          </p:cNvPr>
          <p:cNvSpPr/>
          <p:nvPr/>
        </p:nvSpPr>
        <p:spPr>
          <a:xfrm>
            <a:off x="10922000" y="1955800"/>
            <a:ext cx="863600" cy="279400"/>
          </a:xfrm>
          <a:prstGeom prst="roundRect">
            <a:avLst/>
          </a:prstGeom>
          <a:solidFill>
            <a:srgbClr val="E1F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350BF2-DF35-1CCC-434A-448765074C36}"/>
              </a:ext>
            </a:extLst>
          </p:cNvPr>
          <p:cNvSpPr txBox="1"/>
          <p:nvPr/>
        </p:nvSpPr>
        <p:spPr>
          <a:xfrm>
            <a:off x="10972800" y="1968500"/>
            <a:ext cx="7620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3D8361"/>
                </a:solidFill>
                <a:latin typeface="Aptos" panose="020B0004020202020204" pitchFamily="34" charset="0"/>
              </a:rPr>
              <a:t>REVIEWED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D130C7-1637-57F4-E6C3-A69A6B737DF1}"/>
              </a:ext>
            </a:extLst>
          </p:cNvPr>
          <p:cNvSpPr txBox="1"/>
          <p:nvPr/>
        </p:nvSpPr>
        <p:spPr>
          <a:xfrm>
            <a:off x="584200" y="2641600"/>
            <a:ext cx="6096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 b="1">
                <a:solidFill>
                  <a:srgbClr val="2878B5"/>
                </a:solidFill>
                <a:latin typeface="Aptos" panose="020B0004020202020204" pitchFamily="34" charset="0"/>
              </a:rPr>
              <a:t>PP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EDD565-0682-ED67-AC3E-C1AF2F3397F6}"/>
              </a:ext>
            </a:extLst>
          </p:cNvPr>
          <p:cNvSpPr txBox="1"/>
          <p:nvPr/>
        </p:nvSpPr>
        <p:spPr>
          <a:xfrm>
            <a:off x="1155700" y="2603500"/>
            <a:ext cx="21971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 b="1">
                <a:solidFill>
                  <a:srgbClr val="1F2D38"/>
                </a:solidFill>
                <a:latin typeface="Aptos" panose="020B0004020202020204" pitchFamily="34" charset="0"/>
              </a:rPr>
              <a:t>Point Place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01D675F-A695-A274-C46E-E0683436EF2B}"/>
              </a:ext>
            </a:extLst>
          </p:cNvPr>
          <p:cNvSpPr/>
          <p:nvPr/>
        </p:nvSpPr>
        <p:spPr>
          <a:xfrm>
            <a:off x="3416300" y="2628900"/>
            <a:ext cx="5334000" cy="254000"/>
          </a:xfrm>
          <a:prstGeom prst="roundRect">
            <a:avLst/>
          </a:prstGeom>
          <a:solidFill>
            <a:srgbClr val="D4DE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418F90A-E7A5-0707-8500-608EB39BE133}"/>
              </a:ext>
            </a:extLst>
          </p:cNvPr>
          <p:cNvSpPr/>
          <p:nvPr/>
        </p:nvSpPr>
        <p:spPr>
          <a:xfrm>
            <a:off x="3416300" y="2628900"/>
            <a:ext cx="2971996" cy="254000"/>
          </a:xfrm>
          <a:prstGeom prst="roundRect">
            <a:avLst/>
          </a:prstGeom>
          <a:solidFill>
            <a:srgbClr val="287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07A2AC-596D-F744-6A92-07DF1C10E013}"/>
              </a:ext>
            </a:extLst>
          </p:cNvPr>
          <p:cNvSpPr txBox="1"/>
          <p:nvPr/>
        </p:nvSpPr>
        <p:spPr>
          <a:xfrm>
            <a:off x="8890000" y="2590800"/>
            <a:ext cx="889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r"/>
            <a:r>
              <a:rPr lang="en-US" sz="1050" b="1">
                <a:solidFill>
                  <a:srgbClr val="17324D"/>
                </a:solidFill>
                <a:latin typeface="Aptos" panose="020B0004020202020204" pitchFamily="34" charset="0"/>
              </a:rPr>
              <a:t>648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24E2A0-AF7E-4B26-BF11-883C17C80BDD}"/>
              </a:ext>
            </a:extLst>
          </p:cNvPr>
          <p:cNvSpPr txBox="1"/>
          <p:nvPr/>
        </p:nvSpPr>
        <p:spPr>
          <a:xfrm>
            <a:off x="9918700" y="2590800"/>
            <a:ext cx="9398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r"/>
            <a:r>
              <a:rPr lang="en-US" sz="900">
                <a:solidFill>
                  <a:srgbClr val="5D6B75"/>
                </a:solidFill>
                <a:latin typeface="Aptos" panose="020B0004020202020204" pitchFamily="34" charset="0"/>
              </a:rPr>
              <a:t>114 units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338EF1B-FE5C-3B00-B6B6-FF57E36F83B2}"/>
              </a:ext>
            </a:extLst>
          </p:cNvPr>
          <p:cNvSpPr/>
          <p:nvPr/>
        </p:nvSpPr>
        <p:spPr>
          <a:xfrm>
            <a:off x="10922000" y="2603500"/>
            <a:ext cx="863600" cy="279400"/>
          </a:xfrm>
          <a:prstGeom prst="roundRect">
            <a:avLst/>
          </a:prstGeom>
          <a:solidFill>
            <a:srgbClr val="E4EE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D8B147-0565-8913-5C51-3D56A5E67CF4}"/>
              </a:ext>
            </a:extLst>
          </p:cNvPr>
          <p:cNvSpPr txBox="1"/>
          <p:nvPr/>
        </p:nvSpPr>
        <p:spPr>
          <a:xfrm>
            <a:off x="10972800" y="2616200"/>
            <a:ext cx="7620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2878B5"/>
                </a:solidFill>
                <a:latin typeface="Aptos" panose="020B0004020202020204" pitchFamily="34" charset="0"/>
              </a:rPr>
              <a:t>HOSPITAL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71E5C6-2985-0B74-D016-3A7A60105689}"/>
              </a:ext>
            </a:extLst>
          </p:cNvPr>
          <p:cNvSpPr txBox="1"/>
          <p:nvPr/>
        </p:nvSpPr>
        <p:spPr>
          <a:xfrm>
            <a:off x="584200" y="3289300"/>
            <a:ext cx="6096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 b="1">
                <a:solidFill>
                  <a:srgbClr val="2878B5"/>
                </a:solidFill>
                <a:latin typeface="Aptos" panose="020B0004020202020204" pitchFamily="34" charset="0"/>
              </a:rPr>
              <a:t>LL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07DCE4-D783-CA98-3706-6ED78EA65208}"/>
              </a:ext>
            </a:extLst>
          </p:cNvPr>
          <p:cNvSpPr txBox="1"/>
          <p:nvPr/>
        </p:nvSpPr>
        <p:spPr>
          <a:xfrm>
            <a:off x="1155700" y="3251200"/>
            <a:ext cx="21971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 b="1">
                <a:solidFill>
                  <a:srgbClr val="1F2D38"/>
                </a:solidFill>
                <a:latin typeface="Aptos" panose="020B0004020202020204" pitchFamily="34" charset="0"/>
              </a:rPr>
              <a:t>Line Lake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F60F09C-25FB-D6DF-47D7-E299B18B8C73}"/>
              </a:ext>
            </a:extLst>
          </p:cNvPr>
          <p:cNvSpPr/>
          <p:nvPr/>
        </p:nvSpPr>
        <p:spPr>
          <a:xfrm>
            <a:off x="3416300" y="3276600"/>
            <a:ext cx="5334000" cy="254000"/>
          </a:xfrm>
          <a:prstGeom prst="roundRect">
            <a:avLst/>
          </a:prstGeom>
          <a:solidFill>
            <a:srgbClr val="D4DE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F6975FD-77EC-84C2-D911-1F0A5AB431AF}"/>
              </a:ext>
            </a:extLst>
          </p:cNvPr>
          <p:cNvSpPr/>
          <p:nvPr/>
        </p:nvSpPr>
        <p:spPr>
          <a:xfrm>
            <a:off x="3416300" y="3276600"/>
            <a:ext cx="2953651" cy="254000"/>
          </a:xfrm>
          <a:prstGeom prst="roundRect">
            <a:avLst/>
          </a:prstGeom>
          <a:solidFill>
            <a:srgbClr val="287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00BC90-3816-CAA0-7C3F-B8D35A7D41A7}"/>
              </a:ext>
            </a:extLst>
          </p:cNvPr>
          <p:cNvSpPr txBox="1"/>
          <p:nvPr/>
        </p:nvSpPr>
        <p:spPr>
          <a:xfrm>
            <a:off x="8890000" y="3238500"/>
            <a:ext cx="889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r"/>
            <a:r>
              <a:rPr lang="en-US" sz="1050" b="1">
                <a:solidFill>
                  <a:srgbClr val="17324D"/>
                </a:solidFill>
                <a:latin typeface="Aptos" panose="020B0004020202020204" pitchFamily="34" charset="0"/>
              </a:rPr>
              <a:t>644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B1285F-8BB6-FBB4-D803-77CFA72B3A6F}"/>
              </a:ext>
            </a:extLst>
          </p:cNvPr>
          <p:cNvSpPr txBox="1"/>
          <p:nvPr/>
        </p:nvSpPr>
        <p:spPr>
          <a:xfrm>
            <a:off x="9918700" y="3238500"/>
            <a:ext cx="9398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r"/>
            <a:r>
              <a:rPr lang="en-US" sz="900">
                <a:solidFill>
                  <a:srgbClr val="5D6B75"/>
                </a:solidFill>
                <a:latin typeface="Aptos" panose="020B0004020202020204" pitchFamily="34" charset="0"/>
              </a:rPr>
              <a:t>114 units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4B3E6A6-0EB9-8E51-AF8C-7286B53BC6A7}"/>
              </a:ext>
            </a:extLst>
          </p:cNvPr>
          <p:cNvSpPr/>
          <p:nvPr/>
        </p:nvSpPr>
        <p:spPr>
          <a:xfrm>
            <a:off x="10922000" y="3251200"/>
            <a:ext cx="863600" cy="279400"/>
          </a:xfrm>
          <a:prstGeom prst="roundRect">
            <a:avLst/>
          </a:prstGeom>
          <a:solidFill>
            <a:srgbClr val="E4EE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CCD22A-08AC-2DFB-7CF1-8EE7974BA07C}"/>
              </a:ext>
            </a:extLst>
          </p:cNvPr>
          <p:cNvSpPr txBox="1"/>
          <p:nvPr/>
        </p:nvSpPr>
        <p:spPr>
          <a:xfrm>
            <a:off x="10972800" y="3263900"/>
            <a:ext cx="7620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2878B5"/>
                </a:solidFill>
                <a:latin typeface="Aptos" panose="020B0004020202020204" pitchFamily="34" charset="0"/>
              </a:rPr>
              <a:t>HOSPITAL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823C672-AC87-2A9A-0E11-F2A2D1C90750}"/>
              </a:ext>
            </a:extLst>
          </p:cNvPr>
          <p:cNvSpPr txBox="1"/>
          <p:nvPr/>
        </p:nvSpPr>
        <p:spPr>
          <a:xfrm>
            <a:off x="584200" y="3937000"/>
            <a:ext cx="6096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 b="1">
                <a:solidFill>
                  <a:srgbClr val="2878B5"/>
                </a:solidFill>
                <a:latin typeface="Aptos" panose="020B0004020202020204" pitchFamily="34" charset="0"/>
              </a:rPr>
              <a:t>NN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D91D14-04CE-AD21-6DF9-E86F2C0A68F8}"/>
              </a:ext>
            </a:extLst>
          </p:cNvPr>
          <p:cNvSpPr txBox="1"/>
          <p:nvPr/>
        </p:nvSpPr>
        <p:spPr>
          <a:xfrm>
            <a:off x="1155700" y="3898900"/>
            <a:ext cx="21971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 b="1">
                <a:solidFill>
                  <a:srgbClr val="1F2D38"/>
                </a:solidFill>
                <a:latin typeface="Aptos" panose="020B0004020202020204" pitchFamily="34" charset="0"/>
              </a:rPr>
              <a:t>Node North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4D119DC-E62A-4344-8BE5-A53B34A4CD45}"/>
              </a:ext>
            </a:extLst>
          </p:cNvPr>
          <p:cNvSpPr/>
          <p:nvPr/>
        </p:nvSpPr>
        <p:spPr>
          <a:xfrm>
            <a:off x="3416300" y="3924300"/>
            <a:ext cx="5334000" cy="254000"/>
          </a:xfrm>
          <a:prstGeom prst="roundRect">
            <a:avLst/>
          </a:prstGeom>
          <a:solidFill>
            <a:srgbClr val="D4DE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BB30C1E-0ED0-C395-6959-0C9EA2B418F5}"/>
              </a:ext>
            </a:extLst>
          </p:cNvPr>
          <p:cNvSpPr/>
          <p:nvPr/>
        </p:nvSpPr>
        <p:spPr>
          <a:xfrm>
            <a:off x="3416300" y="3924300"/>
            <a:ext cx="3017861" cy="254000"/>
          </a:xfrm>
          <a:prstGeom prst="roundRect">
            <a:avLst/>
          </a:prstGeom>
          <a:solidFill>
            <a:srgbClr val="287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F27A76-704D-B6D7-3BC1-76B05253DE1F}"/>
              </a:ext>
            </a:extLst>
          </p:cNvPr>
          <p:cNvSpPr txBox="1"/>
          <p:nvPr/>
        </p:nvSpPr>
        <p:spPr>
          <a:xfrm>
            <a:off x="8890000" y="3886200"/>
            <a:ext cx="889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r"/>
            <a:r>
              <a:rPr lang="en-US" sz="1050" b="1">
                <a:solidFill>
                  <a:srgbClr val="17324D"/>
                </a:solidFill>
                <a:latin typeface="Aptos" panose="020B0004020202020204" pitchFamily="34" charset="0"/>
              </a:rPr>
              <a:t>658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8B29DC-1B4F-F290-5253-E0F122663B63}"/>
              </a:ext>
            </a:extLst>
          </p:cNvPr>
          <p:cNvSpPr txBox="1"/>
          <p:nvPr/>
        </p:nvSpPr>
        <p:spPr>
          <a:xfrm>
            <a:off x="9918700" y="3886200"/>
            <a:ext cx="9398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r"/>
            <a:r>
              <a:rPr lang="en-US" sz="900">
                <a:solidFill>
                  <a:srgbClr val="5D6B75"/>
                </a:solidFill>
                <a:latin typeface="Aptos" panose="020B0004020202020204" pitchFamily="34" charset="0"/>
              </a:rPr>
              <a:t>120 units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41CC7ED-1811-5BB2-38ED-5CF20ACC5D1B}"/>
              </a:ext>
            </a:extLst>
          </p:cNvPr>
          <p:cNvSpPr/>
          <p:nvPr/>
        </p:nvSpPr>
        <p:spPr>
          <a:xfrm>
            <a:off x="10922000" y="3898900"/>
            <a:ext cx="863600" cy="279400"/>
          </a:xfrm>
          <a:prstGeom prst="roundRect">
            <a:avLst/>
          </a:prstGeom>
          <a:solidFill>
            <a:srgbClr val="E4EE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805A31-28E3-F8E9-3C26-2444C23CB0F9}"/>
              </a:ext>
            </a:extLst>
          </p:cNvPr>
          <p:cNvSpPr txBox="1"/>
          <p:nvPr/>
        </p:nvSpPr>
        <p:spPr>
          <a:xfrm>
            <a:off x="10972800" y="3911600"/>
            <a:ext cx="7620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2878B5"/>
                </a:solidFill>
                <a:latin typeface="Aptos" panose="020B0004020202020204" pitchFamily="34" charset="0"/>
              </a:rPr>
              <a:t>HOSPITAL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6EE9E0-594A-3947-F543-2DFB35902A88}"/>
              </a:ext>
            </a:extLst>
          </p:cNvPr>
          <p:cNvSpPr txBox="1"/>
          <p:nvPr/>
        </p:nvSpPr>
        <p:spPr>
          <a:xfrm>
            <a:off x="584200" y="4584700"/>
            <a:ext cx="6096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 b="1">
                <a:solidFill>
                  <a:srgbClr val="2878B5"/>
                </a:solidFill>
                <a:latin typeface="Aptos" panose="020B0004020202020204" pitchFamily="34" charset="0"/>
              </a:rPr>
              <a:t>RC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4AEAC1-A651-DA84-CB4C-549614AF07F3}"/>
              </a:ext>
            </a:extLst>
          </p:cNvPr>
          <p:cNvSpPr txBox="1"/>
          <p:nvPr/>
        </p:nvSpPr>
        <p:spPr>
          <a:xfrm>
            <a:off x="1155700" y="4546600"/>
            <a:ext cx="21971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 b="1">
                <a:solidFill>
                  <a:srgbClr val="1F2D38"/>
                </a:solidFill>
                <a:latin typeface="Aptos" panose="020B0004020202020204" pitchFamily="34" charset="0"/>
              </a:rPr>
              <a:t>Rohdran Cove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25E5A8D-24C5-667F-EE17-E3116AB969B9}"/>
              </a:ext>
            </a:extLst>
          </p:cNvPr>
          <p:cNvSpPr/>
          <p:nvPr/>
        </p:nvSpPr>
        <p:spPr>
          <a:xfrm>
            <a:off x="3416300" y="4572000"/>
            <a:ext cx="5334000" cy="254000"/>
          </a:xfrm>
          <a:prstGeom prst="roundRect">
            <a:avLst/>
          </a:prstGeom>
          <a:solidFill>
            <a:srgbClr val="D4DE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DBA12EB-0CEC-04C6-5813-1E074646BFA0}"/>
              </a:ext>
            </a:extLst>
          </p:cNvPr>
          <p:cNvSpPr/>
          <p:nvPr/>
        </p:nvSpPr>
        <p:spPr>
          <a:xfrm>
            <a:off x="3416300" y="4572000"/>
            <a:ext cx="3375601" cy="254000"/>
          </a:xfrm>
          <a:prstGeom prst="roundRect">
            <a:avLst/>
          </a:prstGeom>
          <a:solidFill>
            <a:srgbClr val="287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398062-6459-2A7B-7533-1557F25BB717}"/>
              </a:ext>
            </a:extLst>
          </p:cNvPr>
          <p:cNvSpPr txBox="1"/>
          <p:nvPr/>
        </p:nvSpPr>
        <p:spPr>
          <a:xfrm>
            <a:off x="8890000" y="4533900"/>
            <a:ext cx="889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r"/>
            <a:r>
              <a:rPr lang="en-US" sz="1050" b="1">
                <a:solidFill>
                  <a:srgbClr val="17324D"/>
                </a:solidFill>
                <a:latin typeface="Aptos" panose="020B0004020202020204" pitchFamily="34" charset="0"/>
              </a:rPr>
              <a:t>736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1158E69-CFF4-530F-9ADF-6EE3474C92DC}"/>
              </a:ext>
            </a:extLst>
          </p:cNvPr>
          <p:cNvSpPr txBox="1"/>
          <p:nvPr/>
        </p:nvSpPr>
        <p:spPr>
          <a:xfrm>
            <a:off x="9918700" y="4533900"/>
            <a:ext cx="9398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r"/>
            <a:r>
              <a:rPr lang="en-US" sz="900">
                <a:solidFill>
                  <a:srgbClr val="5D6B75"/>
                </a:solidFill>
                <a:latin typeface="Aptos" panose="020B0004020202020204" pitchFamily="34" charset="0"/>
              </a:rPr>
              <a:t>128 units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79C5FF9-3D26-BE58-8E98-9D980302B32E}"/>
              </a:ext>
            </a:extLst>
          </p:cNvPr>
          <p:cNvSpPr/>
          <p:nvPr/>
        </p:nvSpPr>
        <p:spPr>
          <a:xfrm>
            <a:off x="10922000" y="4546600"/>
            <a:ext cx="863600" cy="279400"/>
          </a:xfrm>
          <a:prstGeom prst="roundRect">
            <a:avLst/>
          </a:prstGeom>
          <a:solidFill>
            <a:srgbClr val="E4EE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62430B-B05E-D46F-170C-EEC73DD74570}"/>
              </a:ext>
            </a:extLst>
          </p:cNvPr>
          <p:cNvSpPr txBox="1"/>
          <p:nvPr/>
        </p:nvSpPr>
        <p:spPr>
          <a:xfrm>
            <a:off x="10972800" y="4559300"/>
            <a:ext cx="7620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2878B5"/>
                </a:solidFill>
                <a:latin typeface="Aptos" panose="020B0004020202020204" pitchFamily="34" charset="0"/>
              </a:rPr>
              <a:t>HOSPITAL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B4C7C0-7FEF-2827-C800-272B1B4DB830}"/>
              </a:ext>
            </a:extLst>
          </p:cNvPr>
          <p:cNvSpPr txBox="1"/>
          <p:nvPr/>
        </p:nvSpPr>
        <p:spPr>
          <a:xfrm>
            <a:off x="584200" y="5232400"/>
            <a:ext cx="6096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 b="1">
                <a:solidFill>
                  <a:srgbClr val="E76F51"/>
                </a:solidFill>
                <a:latin typeface="Aptos" panose="020B0004020202020204" pitchFamily="34" charset="0"/>
              </a:rPr>
              <a:t>AHQ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396ECF-C8C3-0E15-0DB4-BD033172DB0A}"/>
              </a:ext>
            </a:extLst>
          </p:cNvPr>
          <p:cNvSpPr txBox="1"/>
          <p:nvPr/>
        </p:nvSpPr>
        <p:spPr>
          <a:xfrm>
            <a:off x="1155700" y="5194300"/>
            <a:ext cx="21971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 b="1">
                <a:solidFill>
                  <a:srgbClr val="1F2D38"/>
                </a:solidFill>
                <a:latin typeface="Aptos" panose="020B0004020202020204" pitchFamily="34" charset="0"/>
              </a:rPr>
              <a:t>Admin HQ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FFEAA69-DC81-848B-7D16-CACA010D3DE6}"/>
              </a:ext>
            </a:extLst>
          </p:cNvPr>
          <p:cNvSpPr/>
          <p:nvPr/>
        </p:nvSpPr>
        <p:spPr>
          <a:xfrm>
            <a:off x="3416300" y="5219700"/>
            <a:ext cx="5334000" cy="254000"/>
          </a:xfrm>
          <a:prstGeom prst="roundRect">
            <a:avLst/>
          </a:prstGeom>
          <a:solidFill>
            <a:srgbClr val="D4DE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4E948B6-C5CC-CCB9-B434-1FC62B84C408}"/>
              </a:ext>
            </a:extLst>
          </p:cNvPr>
          <p:cNvSpPr/>
          <p:nvPr/>
        </p:nvSpPr>
        <p:spPr>
          <a:xfrm>
            <a:off x="3416300" y="5219700"/>
            <a:ext cx="5334000" cy="254000"/>
          </a:xfrm>
          <a:prstGeom prst="roundRect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4FB287-EA0B-96B9-DCD0-E254A657F5C7}"/>
              </a:ext>
            </a:extLst>
          </p:cNvPr>
          <p:cNvSpPr txBox="1"/>
          <p:nvPr/>
        </p:nvSpPr>
        <p:spPr>
          <a:xfrm>
            <a:off x="8890000" y="5181600"/>
            <a:ext cx="889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r"/>
            <a:r>
              <a:rPr lang="en-US" sz="1050" b="1">
                <a:solidFill>
                  <a:srgbClr val="17324D"/>
                </a:solidFill>
                <a:latin typeface="Aptos" panose="020B0004020202020204" pitchFamily="34" charset="0"/>
              </a:rPr>
              <a:t>1,163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AA1273-9E6D-6B79-E30B-ABC1C10F4D42}"/>
              </a:ext>
            </a:extLst>
          </p:cNvPr>
          <p:cNvSpPr txBox="1"/>
          <p:nvPr/>
        </p:nvSpPr>
        <p:spPr>
          <a:xfrm>
            <a:off x="9918700" y="5181600"/>
            <a:ext cx="9398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r"/>
            <a:r>
              <a:rPr lang="en-US" sz="900">
                <a:solidFill>
                  <a:srgbClr val="5D6B75"/>
                </a:solidFill>
                <a:latin typeface="Aptos" panose="020B0004020202020204" pitchFamily="34" charset="0"/>
              </a:rPr>
              <a:t>263 units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CCF1568-E65E-9857-4D60-0F49C29BE450}"/>
              </a:ext>
            </a:extLst>
          </p:cNvPr>
          <p:cNvSpPr/>
          <p:nvPr/>
        </p:nvSpPr>
        <p:spPr>
          <a:xfrm>
            <a:off x="10922000" y="5194300"/>
            <a:ext cx="863600" cy="279400"/>
          </a:xfrm>
          <a:prstGeom prst="roundRect">
            <a:avLst/>
          </a:prstGeom>
          <a:solidFill>
            <a:srgbClr val="E4EE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45D00F0-F97D-F840-B8AE-ED03BE079473}"/>
              </a:ext>
            </a:extLst>
          </p:cNvPr>
          <p:cNvSpPr txBox="1"/>
          <p:nvPr/>
        </p:nvSpPr>
        <p:spPr>
          <a:xfrm>
            <a:off x="10972800" y="5207000"/>
            <a:ext cx="7620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2878B5"/>
                </a:solidFill>
                <a:latin typeface="Aptos" panose="020B0004020202020204" pitchFamily="34" charset="0"/>
              </a:rPr>
              <a:t>OFFICE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0CAC032-E455-2AE0-1B02-A764CE6D5F51}"/>
              </a:ext>
            </a:extLst>
          </p:cNvPr>
          <p:cNvCxnSpPr/>
          <p:nvPr/>
        </p:nvCxnSpPr>
        <p:spPr>
          <a:xfrm>
            <a:off x="3416300" y="5892800"/>
            <a:ext cx="5334000" cy="0"/>
          </a:xfrm>
          <a:prstGeom prst="line">
            <a:avLst/>
          </a:prstGeom>
          <a:ln w="19050">
            <a:solidFill>
              <a:srgbClr val="D4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62CF9CE-F534-6BDB-6CD0-2ECDFADD20B6}"/>
              </a:ext>
            </a:extLst>
          </p:cNvPr>
          <p:cNvSpPr txBox="1"/>
          <p:nvPr/>
        </p:nvSpPr>
        <p:spPr>
          <a:xfrm>
            <a:off x="3416300" y="5969000"/>
            <a:ext cx="2286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 b="1">
                <a:solidFill>
                  <a:srgbClr val="5D6B75"/>
                </a:solidFill>
                <a:latin typeface="Aptos" panose="020B0004020202020204" pitchFamily="34" charset="0"/>
              </a:rPr>
              <a:t>INDOOR ASSETS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A4BC93-9789-F538-86B2-E1796564D7FA}"/>
              </a:ext>
            </a:extLst>
          </p:cNvPr>
          <p:cNvSpPr txBox="1"/>
          <p:nvPr/>
        </p:nvSpPr>
        <p:spPr>
          <a:xfrm>
            <a:off x="6921500" y="5969000"/>
            <a:ext cx="48641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r"/>
            <a:r>
              <a:rPr lang="en-US" sz="850" b="1">
                <a:solidFill>
                  <a:srgbClr val="17324D"/>
                </a:solidFill>
                <a:latin typeface="Aptos" panose="020B0004020202020204" pitchFamily="34" charset="0"/>
              </a:rPr>
              <a:t>TOTAL 4,852  |  EXTERIOR 72  |  LEVELS 32</a:t>
            </a:r>
          </a:p>
        </p:txBody>
      </p:sp>
    </p:spTree>
    <p:extLst>
      <p:ext uri="{BB962C8B-B14F-4D97-AF65-F5344CB8AC3E}">
        <p14:creationId xmlns:p14="http://schemas.microsoft.com/office/powerpoint/2010/main" val="3561492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544C5F-093C-5384-DBFF-7F76F3BDCE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027197-4516-BE2B-4A45-0CD453D6ABF7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7A9129-9204-FC0B-CE22-3F3FDF4F1FA3}"/>
              </a:ext>
            </a:extLst>
          </p:cNvPr>
          <p:cNvSpPr txBox="1"/>
          <p:nvPr/>
        </p:nvSpPr>
        <p:spPr>
          <a:xfrm>
            <a:off x="533400" y="304800"/>
            <a:ext cx="9652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0B7285"/>
                </a:solidFill>
                <a:latin typeface="Aptos" panose="020B0004020202020204" pitchFamily="34" charset="0"/>
              </a:rPr>
              <a:t>PORTFOLIO PLANNING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734BE-613C-E9F9-A86C-13B0BE0133F7}"/>
              </a:ext>
            </a:extLst>
          </p:cNvPr>
          <p:cNvSpPr txBox="1"/>
          <p:nvPr/>
        </p:nvSpPr>
        <p:spPr>
          <a:xfrm>
            <a:off x="533400" y="635000"/>
            <a:ext cx="10922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700" b="1">
                <a:solidFill>
                  <a:srgbClr val="17324D"/>
                </a:solidFill>
                <a:latin typeface="Aptos" panose="020B0004020202020204" pitchFamily="34" charset="0"/>
              </a:rPr>
              <a:t>Lifecycle distribution is exact by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0E300-69B7-8737-0CF0-1ED3214AA36C}"/>
              </a:ext>
            </a:extLst>
          </p:cNvPr>
          <p:cNvSpPr txBox="1"/>
          <p:nvPr/>
        </p:nvSpPr>
        <p:spPr>
          <a:xfrm>
            <a:off x="558800" y="12573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Facility mixes vary slightly while the organization-wide 20 / 50 / 30 contract remains exact.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31B020-9289-660B-A8AC-2F6D79469B8F}"/>
              </a:ext>
            </a:extLst>
          </p:cNvPr>
          <p:cNvSpPr txBox="1"/>
          <p:nvPr/>
        </p:nvSpPr>
        <p:spPr>
          <a:xfrm>
            <a:off x="533400" y="6502400"/>
            <a:ext cx="11049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>
                <a:solidFill>
                  <a:srgbClr val="5D6B75"/>
                </a:solidFill>
                <a:latin typeface="Aptos" panose="020B0004020202020204" pitchFamily="34" charset="0"/>
              </a:rPr>
              <a:t>INDOORS ASSET CATALOG  |  07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4EB48F-CE7F-A140-57A2-EA5DB89F9CF5}"/>
              </a:ext>
            </a:extLst>
          </p:cNvPr>
          <p:cNvSpPr txBox="1"/>
          <p:nvPr/>
        </p:nvSpPr>
        <p:spPr>
          <a:xfrm>
            <a:off x="571500" y="1943100"/>
            <a:ext cx="3810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b="1">
                <a:solidFill>
                  <a:srgbClr val="17324D"/>
                </a:solidFill>
                <a:latin typeface="Aptos" panose="020B0004020202020204" pitchFamily="34" charset="0"/>
              </a:rPr>
              <a:t>4,852 lifecycle assets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770850-EB57-0F55-F1A9-1DB4942C6F0A}"/>
              </a:ext>
            </a:extLst>
          </p:cNvPr>
          <p:cNvSpPr/>
          <p:nvPr/>
        </p:nvSpPr>
        <p:spPr>
          <a:xfrm>
            <a:off x="571500" y="2730500"/>
            <a:ext cx="2132721" cy="698500"/>
          </a:xfrm>
          <a:prstGeom prst="rect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599071-0D4C-AD10-A875-E08636BF4783}"/>
              </a:ext>
            </a:extLst>
          </p:cNvPr>
          <p:cNvSpPr txBox="1"/>
          <p:nvPr/>
        </p:nvSpPr>
        <p:spPr>
          <a:xfrm>
            <a:off x="571500" y="2895600"/>
            <a:ext cx="2132721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20%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59BB3B-2F98-765B-F181-55C46778E44C}"/>
              </a:ext>
            </a:extLst>
          </p:cNvPr>
          <p:cNvSpPr/>
          <p:nvPr/>
        </p:nvSpPr>
        <p:spPr>
          <a:xfrm>
            <a:off x="2704221" y="2730500"/>
            <a:ext cx="5334000" cy="6985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1CB7C9-2058-4874-1313-D0B08316590B}"/>
              </a:ext>
            </a:extLst>
          </p:cNvPr>
          <p:cNvSpPr txBox="1"/>
          <p:nvPr/>
        </p:nvSpPr>
        <p:spPr>
          <a:xfrm>
            <a:off x="2704221" y="2895600"/>
            <a:ext cx="5334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50%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F21453-186C-5B62-3CCA-2EBE55E0E897}"/>
              </a:ext>
            </a:extLst>
          </p:cNvPr>
          <p:cNvSpPr/>
          <p:nvPr/>
        </p:nvSpPr>
        <p:spPr>
          <a:xfrm>
            <a:off x="8038220" y="2730500"/>
            <a:ext cx="3201280" cy="698500"/>
          </a:xfrm>
          <a:prstGeom prst="rect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8C7253-0B64-AC6F-9E56-904953A96C2F}"/>
              </a:ext>
            </a:extLst>
          </p:cNvPr>
          <p:cNvSpPr txBox="1"/>
          <p:nvPr/>
        </p:nvSpPr>
        <p:spPr>
          <a:xfrm>
            <a:off x="8038220" y="2895600"/>
            <a:ext cx="3201279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ptos" panose="020B0004020202020204" pitchFamily="34" charset="0"/>
              </a:rPr>
              <a:t>30%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6031C1-0CB8-2E3C-E954-2EEB7C886993}"/>
              </a:ext>
            </a:extLst>
          </p:cNvPr>
          <p:cNvSpPr/>
          <p:nvPr/>
        </p:nvSpPr>
        <p:spPr>
          <a:xfrm>
            <a:off x="571500" y="3937000"/>
            <a:ext cx="3200400" cy="1612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C8D6A5-1FFE-3AE0-BEAF-C9DD90B6263B}"/>
              </a:ext>
            </a:extLst>
          </p:cNvPr>
          <p:cNvSpPr/>
          <p:nvPr/>
        </p:nvSpPr>
        <p:spPr>
          <a:xfrm>
            <a:off x="571500" y="3937000"/>
            <a:ext cx="3200400" cy="101600"/>
          </a:xfrm>
          <a:prstGeom prst="roundRect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CB3BD3-BF64-1854-0C4D-80CF7868A5F2}"/>
              </a:ext>
            </a:extLst>
          </p:cNvPr>
          <p:cNvSpPr txBox="1"/>
          <p:nvPr/>
        </p:nvSpPr>
        <p:spPr>
          <a:xfrm>
            <a:off x="825500" y="4254500"/>
            <a:ext cx="2667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400" b="1">
                <a:solidFill>
                  <a:srgbClr val="3D8361"/>
                </a:solidFill>
                <a:latin typeface="Aptos" panose="020B0004020202020204" pitchFamily="34" charset="0"/>
              </a:rPr>
              <a:t>970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C1DC06-F901-BB86-D31D-6C061B1B408B}"/>
              </a:ext>
            </a:extLst>
          </p:cNvPr>
          <p:cNvSpPr txBox="1"/>
          <p:nvPr/>
        </p:nvSpPr>
        <p:spPr>
          <a:xfrm>
            <a:off x="825500" y="4787900"/>
            <a:ext cx="2667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 b="1">
                <a:solidFill>
                  <a:srgbClr val="17324D"/>
                </a:solidFill>
                <a:latin typeface="Aptos" panose="020B0004020202020204" pitchFamily="34" charset="0"/>
              </a:rPr>
              <a:t>Recently installed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3FF880-A348-F90A-9EFD-4584A495F0FE}"/>
              </a:ext>
            </a:extLst>
          </p:cNvPr>
          <p:cNvSpPr txBox="1"/>
          <p:nvPr/>
        </p:nvSpPr>
        <p:spPr>
          <a:xfrm>
            <a:off x="825500" y="5143500"/>
            <a:ext cx="26670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850">
                <a:solidFill>
                  <a:srgbClr val="5D6B75"/>
                </a:solidFill>
                <a:latin typeface="Aptos" panose="020B0004020202020204" pitchFamily="34" charset="0"/>
              </a:rPr>
              <a:t>At least 184 days; no more than 2 years or 25% of life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76A0072-15F9-DCEB-42DE-A2584D0B2DC4}"/>
              </a:ext>
            </a:extLst>
          </p:cNvPr>
          <p:cNvSpPr/>
          <p:nvPr/>
        </p:nvSpPr>
        <p:spPr>
          <a:xfrm>
            <a:off x="4178300" y="3937000"/>
            <a:ext cx="3200400" cy="1612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8AFDA3F-7E18-4D5E-9AD6-BF1DE6934EB2}"/>
              </a:ext>
            </a:extLst>
          </p:cNvPr>
          <p:cNvSpPr/>
          <p:nvPr/>
        </p:nvSpPr>
        <p:spPr>
          <a:xfrm>
            <a:off x="4178300" y="3937000"/>
            <a:ext cx="3200400" cy="101600"/>
          </a:xfrm>
          <a:prstGeom prst="round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9AA748-21C7-B322-8BF4-EF552D2A5355}"/>
              </a:ext>
            </a:extLst>
          </p:cNvPr>
          <p:cNvSpPr txBox="1"/>
          <p:nvPr/>
        </p:nvSpPr>
        <p:spPr>
          <a:xfrm>
            <a:off x="4432300" y="4254500"/>
            <a:ext cx="2667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400" b="1">
                <a:solidFill>
                  <a:srgbClr val="0B7285"/>
                </a:solidFill>
                <a:latin typeface="Aptos" panose="020B0004020202020204" pitchFamily="34" charset="0"/>
              </a:rPr>
              <a:t>2,426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57C9BA-70AA-86DA-C9D5-53744AC9222A}"/>
              </a:ext>
            </a:extLst>
          </p:cNvPr>
          <p:cNvSpPr txBox="1"/>
          <p:nvPr/>
        </p:nvSpPr>
        <p:spPr>
          <a:xfrm>
            <a:off x="4432300" y="4787900"/>
            <a:ext cx="2667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 b="1">
                <a:solidFill>
                  <a:srgbClr val="17324D"/>
                </a:solidFill>
                <a:latin typeface="Aptos" panose="020B0004020202020204" pitchFamily="34" charset="0"/>
              </a:rPr>
              <a:t>Within service life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256058-8DA2-F7E1-D6E0-76332C2432C6}"/>
              </a:ext>
            </a:extLst>
          </p:cNvPr>
          <p:cNvSpPr txBox="1"/>
          <p:nvPr/>
        </p:nvSpPr>
        <p:spPr>
          <a:xfrm>
            <a:off x="4432300" y="5143500"/>
            <a:ext cx="26670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850">
                <a:solidFill>
                  <a:srgbClr val="5D6B75"/>
                </a:solidFill>
                <a:latin typeface="Aptos" panose="020B0004020202020204" pitchFamily="34" charset="0"/>
              </a:rPr>
              <a:t>Between 20% and 75% of expected service life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F8EF5E1-7740-8067-857D-F4B722691B10}"/>
              </a:ext>
            </a:extLst>
          </p:cNvPr>
          <p:cNvSpPr/>
          <p:nvPr/>
        </p:nvSpPr>
        <p:spPr>
          <a:xfrm>
            <a:off x="7785100" y="3937000"/>
            <a:ext cx="3200400" cy="1612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3CCD2B8-AC85-41BC-0A88-5FCAA1D2A956}"/>
              </a:ext>
            </a:extLst>
          </p:cNvPr>
          <p:cNvSpPr/>
          <p:nvPr/>
        </p:nvSpPr>
        <p:spPr>
          <a:xfrm>
            <a:off x="7785100" y="3937000"/>
            <a:ext cx="3200400" cy="101600"/>
          </a:xfrm>
          <a:prstGeom prst="roundRect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DA249E-4A93-CA9F-B035-0C351FFE1C71}"/>
              </a:ext>
            </a:extLst>
          </p:cNvPr>
          <p:cNvSpPr txBox="1"/>
          <p:nvPr/>
        </p:nvSpPr>
        <p:spPr>
          <a:xfrm>
            <a:off x="8039100" y="4254500"/>
            <a:ext cx="2667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400" b="1">
                <a:solidFill>
                  <a:srgbClr val="E76F51"/>
                </a:solidFill>
                <a:latin typeface="Aptos" panose="020B0004020202020204" pitchFamily="34" charset="0"/>
              </a:rPr>
              <a:t>1,456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E1C42C-7C14-0AD8-2964-7CD1802BC9FE}"/>
              </a:ext>
            </a:extLst>
          </p:cNvPr>
          <p:cNvSpPr txBox="1"/>
          <p:nvPr/>
        </p:nvSpPr>
        <p:spPr>
          <a:xfrm>
            <a:off x="8039100" y="4787900"/>
            <a:ext cx="2667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 b="1">
                <a:solidFill>
                  <a:srgbClr val="17324D"/>
                </a:solidFill>
                <a:latin typeface="Aptos" panose="020B0004020202020204" pitchFamily="34" charset="0"/>
              </a:rPr>
              <a:t>Retrofit / replacement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6DFB78-42ED-2BD3-30E3-514AD2E1A070}"/>
              </a:ext>
            </a:extLst>
          </p:cNvPr>
          <p:cNvSpPr txBox="1"/>
          <p:nvPr/>
        </p:nvSpPr>
        <p:spPr>
          <a:xfrm>
            <a:off x="8039100" y="5143500"/>
            <a:ext cx="26670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850">
                <a:solidFill>
                  <a:srgbClr val="5D6B75"/>
                </a:solidFill>
                <a:latin typeface="Aptos" panose="020B0004020202020204" pitchFamily="34" charset="0"/>
              </a:rPr>
              <a:t>Between 80% and 105% of expected service life</a:t>
            </a:r>
          </a:p>
        </p:txBody>
      </p:sp>
    </p:spTree>
    <p:extLst>
      <p:ext uri="{BB962C8B-B14F-4D97-AF65-F5344CB8AC3E}">
        <p14:creationId xmlns:p14="http://schemas.microsoft.com/office/powerpoint/2010/main" val="83108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C941B3-84B2-6866-1D55-83F10C1121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67E09A-40C1-4344-AC0B-864381F7800D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6AFF6-6180-655A-4CF5-E37B49AEA156}"/>
              </a:ext>
            </a:extLst>
          </p:cNvPr>
          <p:cNvSpPr txBox="1"/>
          <p:nvPr/>
        </p:nvSpPr>
        <p:spPr>
          <a:xfrm>
            <a:off x="533400" y="304800"/>
            <a:ext cx="9652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0B7285"/>
                </a:solidFill>
                <a:latin typeface="Aptos" panose="020B0004020202020204" pitchFamily="34" charset="0"/>
              </a:rPr>
              <a:t>DATA COVERAGE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5C74F-DB3B-85DC-EDBE-4E17D939C7C0}"/>
              </a:ext>
            </a:extLst>
          </p:cNvPr>
          <p:cNvSpPr txBox="1"/>
          <p:nvPr/>
        </p:nvSpPr>
        <p:spPr>
          <a:xfrm>
            <a:off x="533400" y="635000"/>
            <a:ext cx="10922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700" b="1">
                <a:solidFill>
                  <a:srgbClr val="17324D"/>
                </a:solidFill>
                <a:latin typeface="Aptos" panose="020B0004020202020204" pitchFamily="34" charset="0"/>
              </a:rPr>
              <a:t>The catalog supports planning and operations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CDC064-C563-D271-2FD2-505DD92F933D}"/>
              </a:ext>
            </a:extLst>
          </p:cNvPr>
          <p:cNvSpPr txBox="1"/>
          <p:nvPr/>
        </p:nvSpPr>
        <p:spPr>
          <a:xfrm>
            <a:off x="558800" y="12573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Ten controlled asset classes span clinical, technology, safety, and building systems.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69AD44-1BF8-B788-4C3E-402AAD5D41C7}"/>
              </a:ext>
            </a:extLst>
          </p:cNvPr>
          <p:cNvSpPr txBox="1"/>
          <p:nvPr/>
        </p:nvSpPr>
        <p:spPr>
          <a:xfrm>
            <a:off x="533400" y="6502400"/>
            <a:ext cx="11049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>
                <a:solidFill>
                  <a:srgbClr val="5D6B75"/>
                </a:solidFill>
                <a:latin typeface="Aptos" panose="020B0004020202020204" pitchFamily="34" charset="0"/>
              </a:rPr>
              <a:t>INDOORS ASSET CATALOG  |  08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D9BD578-C022-008F-95A2-04443AB58742}"/>
              </a:ext>
            </a:extLst>
          </p:cNvPr>
          <p:cNvSpPr/>
          <p:nvPr/>
        </p:nvSpPr>
        <p:spPr>
          <a:xfrm>
            <a:off x="609600" y="1968500"/>
            <a:ext cx="431800" cy="431800"/>
          </a:xfrm>
          <a:prstGeom prst="ellipse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A6426-07FF-EAAE-9A73-611D6639192C}"/>
              </a:ext>
            </a:extLst>
          </p:cNvPr>
          <p:cNvSpPr txBox="1"/>
          <p:nvPr/>
        </p:nvSpPr>
        <p:spPr>
          <a:xfrm>
            <a:off x="609600" y="2057400"/>
            <a:ext cx="4318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4B5D8D-5759-839C-712C-AD965F5D5A62}"/>
              </a:ext>
            </a:extLst>
          </p:cNvPr>
          <p:cNvSpPr txBox="1"/>
          <p:nvPr/>
        </p:nvSpPr>
        <p:spPr>
          <a:xfrm>
            <a:off x="1206500" y="1917700"/>
            <a:ext cx="29210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 b="1">
                <a:solidFill>
                  <a:srgbClr val="17324D"/>
                </a:solidFill>
                <a:latin typeface="Aptos" panose="020B0004020202020204" pitchFamily="34" charset="0"/>
              </a:rPr>
              <a:t>Clinical + diagnostic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C39097-4619-F0D5-ECF5-92D897664F43}"/>
              </a:ext>
            </a:extLst>
          </p:cNvPr>
          <p:cNvSpPr txBox="1"/>
          <p:nvPr/>
        </p:nvSpPr>
        <p:spPr>
          <a:xfrm>
            <a:off x="1206500" y="2247900"/>
            <a:ext cx="48895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Patient-facing equipment, monitors, imaging, laboratory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E799E5-D952-62AF-BD42-F993C0893B84}"/>
              </a:ext>
            </a:extLst>
          </p:cNvPr>
          <p:cNvSpPr/>
          <p:nvPr/>
        </p:nvSpPr>
        <p:spPr>
          <a:xfrm>
            <a:off x="609600" y="2755900"/>
            <a:ext cx="431800" cy="431800"/>
          </a:xfrm>
          <a:prstGeom prst="ellipse">
            <a:avLst/>
          </a:prstGeom>
          <a:solidFill>
            <a:srgbClr val="287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8A8444-0EC9-1D97-CFCD-1562FD4405B9}"/>
              </a:ext>
            </a:extLst>
          </p:cNvPr>
          <p:cNvSpPr txBox="1"/>
          <p:nvPr/>
        </p:nvSpPr>
        <p:spPr>
          <a:xfrm>
            <a:off x="609600" y="2844800"/>
            <a:ext cx="4318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DF5AC6-E437-B3C0-FAE0-608EA6C1AEFB}"/>
              </a:ext>
            </a:extLst>
          </p:cNvPr>
          <p:cNvSpPr txBox="1"/>
          <p:nvPr/>
        </p:nvSpPr>
        <p:spPr>
          <a:xfrm>
            <a:off x="1206500" y="2705100"/>
            <a:ext cx="29210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 b="1">
                <a:solidFill>
                  <a:srgbClr val="17324D"/>
                </a:solidFill>
                <a:latin typeface="Aptos" panose="020B0004020202020204" pitchFamily="34" charset="0"/>
              </a:rPr>
              <a:t>Building + electrical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1E875-BD47-9B7D-EB88-6B23F77432FD}"/>
              </a:ext>
            </a:extLst>
          </p:cNvPr>
          <p:cNvSpPr txBox="1"/>
          <p:nvPr/>
        </p:nvSpPr>
        <p:spPr>
          <a:xfrm>
            <a:off x="1206500" y="3035300"/>
            <a:ext cx="48895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HVAC, switchgear, plumbing, emergency power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760CA3C-E120-494E-B076-C97B27EF9B9D}"/>
              </a:ext>
            </a:extLst>
          </p:cNvPr>
          <p:cNvSpPr/>
          <p:nvPr/>
        </p:nvSpPr>
        <p:spPr>
          <a:xfrm>
            <a:off x="609600" y="3543300"/>
            <a:ext cx="431800" cy="4318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68F00C-D154-2CF8-763D-57567568819C}"/>
              </a:ext>
            </a:extLst>
          </p:cNvPr>
          <p:cNvSpPr txBox="1"/>
          <p:nvPr/>
        </p:nvSpPr>
        <p:spPr>
          <a:xfrm>
            <a:off x="609600" y="3632200"/>
            <a:ext cx="4318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71D2FC-1194-CF28-A6A6-679B293DD05E}"/>
              </a:ext>
            </a:extLst>
          </p:cNvPr>
          <p:cNvSpPr txBox="1"/>
          <p:nvPr/>
        </p:nvSpPr>
        <p:spPr>
          <a:xfrm>
            <a:off x="1206500" y="3492500"/>
            <a:ext cx="29210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 b="1">
                <a:solidFill>
                  <a:srgbClr val="17324D"/>
                </a:solidFill>
                <a:latin typeface="Aptos" panose="020B0004020202020204" pitchFamily="34" charset="0"/>
              </a:rPr>
              <a:t>IT + communications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225C2B-6A81-AFC4-5F7B-17F9CA9C3092}"/>
              </a:ext>
            </a:extLst>
          </p:cNvPr>
          <p:cNvSpPr txBox="1"/>
          <p:nvPr/>
        </p:nvSpPr>
        <p:spPr>
          <a:xfrm>
            <a:off x="1206500" y="3822700"/>
            <a:ext cx="48895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Workstations, network racks, conferencing, telecom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AA82C1B-C6DB-F5BA-175E-A188661F3D2B}"/>
              </a:ext>
            </a:extLst>
          </p:cNvPr>
          <p:cNvSpPr/>
          <p:nvPr/>
        </p:nvSpPr>
        <p:spPr>
          <a:xfrm>
            <a:off x="609600" y="4330700"/>
            <a:ext cx="431800" cy="431800"/>
          </a:xfrm>
          <a:prstGeom prst="ellipse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31006D-F4C3-9C34-2B9F-88BA66A1204E}"/>
              </a:ext>
            </a:extLst>
          </p:cNvPr>
          <p:cNvSpPr txBox="1"/>
          <p:nvPr/>
        </p:nvSpPr>
        <p:spPr>
          <a:xfrm>
            <a:off x="609600" y="4419600"/>
            <a:ext cx="4318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455B42-BEEF-7AB1-3E67-A1C9989E680C}"/>
              </a:ext>
            </a:extLst>
          </p:cNvPr>
          <p:cNvSpPr txBox="1"/>
          <p:nvPr/>
        </p:nvSpPr>
        <p:spPr>
          <a:xfrm>
            <a:off x="1206500" y="4279900"/>
            <a:ext cx="29210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 b="1">
                <a:solidFill>
                  <a:srgbClr val="17324D"/>
                </a:solidFill>
                <a:latin typeface="Aptos" panose="020B0004020202020204" pitchFamily="34" charset="0"/>
              </a:rPr>
              <a:t>Safety + security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F7E37C-4F9B-02A4-49A0-FF5EA6354F45}"/>
              </a:ext>
            </a:extLst>
          </p:cNvPr>
          <p:cNvSpPr txBox="1"/>
          <p:nvPr/>
        </p:nvSpPr>
        <p:spPr>
          <a:xfrm>
            <a:off x="1206500" y="4610100"/>
            <a:ext cx="48895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Fire alarm, emergency lighting, cameras, access control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C73BB29-ACAA-D64E-B7D2-5C5C83F5F819}"/>
              </a:ext>
            </a:extLst>
          </p:cNvPr>
          <p:cNvSpPr/>
          <p:nvPr/>
        </p:nvSpPr>
        <p:spPr>
          <a:xfrm>
            <a:off x="609600" y="5118100"/>
            <a:ext cx="431800" cy="4318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62BCAB-F8F4-68C5-E20C-7CB525BCB1E7}"/>
              </a:ext>
            </a:extLst>
          </p:cNvPr>
          <p:cNvSpPr txBox="1"/>
          <p:nvPr/>
        </p:nvSpPr>
        <p:spPr>
          <a:xfrm>
            <a:off x="609600" y="5207000"/>
            <a:ext cx="4318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D942CA-B2B7-1033-9DBF-32F27F1FC953}"/>
              </a:ext>
            </a:extLst>
          </p:cNvPr>
          <p:cNvSpPr txBox="1"/>
          <p:nvPr/>
        </p:nvSpPr>
        <p:spPr>
          <a:xfrm>
            <a:off x="1206500" y="5067300"/>
            <a:ext cx="29210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 b="1">
                <a:solidFill>
                  <a:srgbClr val="17324D"/>
                </a:solidFill>
                <a:latin typeface="Aptos" panose="020B0004020202020204" pitchFamily="34" charset="0"/>
              </a:rPr>
              <a:t>Furniture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17FA86-0E84-DF45-2C44-7BC6F0D638D8}"/>
              </a:ext>
            </a:extLst>
          </p:cNvPr>
          <p:cNvSpPr txBox="1"/>
          <p:nvPr/>
        </p:nvSpPr>
        <p:spPr>
          <a:xfrm>
            <a:off x="1206500" y="5397500"/>
            <a:ext cx="48895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Clinical furniture, office furniture, storage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C230FBF-6B05-81E1-E72A-146ED67CE9D0}"/>
              </a:ext>
            </a:extLst>
          </p:cNvPr>
          <p:cNvSpPr/>
          <p:nvPr/>
        </p:nvSpPr>
        <p:spPr>
          <a:xfrm>
            <a:off x="6705600" y="1917700"/>
            <a:ext cx="4572000" cy="3924300"/>
          </a:xfrm>
          <a:prstGeom prst="roundRect">
            <a:avLst/>
          </a:prstGeom>
          <a:solidFill>
            <a:srgbClr val="17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435810-DDBF-B3B8-A62B-04262CDB10BE}"/>
              </a:ext>
            </a:extLst>
          </p:cNvPr>
          <p:cNvSpPr txBox="1"/>
          <p:nvPr/>
        </p:nvSpPr>
        <p:spPr>
          <a:xfrm>
            <a:off x="7035800" y="2222500"/>
            <a:ext cx="3556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Planning fields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8250E0E-DF30-5A67-2C33-A81EAEAA8F1E}"/>
              </a:ext>
            </a:extLst>
          </p:cNvPr>
          <p:cNvSpPr/>
          <p:nvPr/>
        </p:nvSpPr>
        <p:spPr>
          <a:xfrm>
            <a:off x="7073900" y="28829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F300FF-4D8D-F93F-BAE3-2678D2184A57}"/>
              </a:ext>
            </a:extLst>
          </p:cNvPr>
          <p:cNvSpPr txBox="1"/>
          <p:nvPr/>
        </p:nvSpPr>
        <p:spPr>
          <a:xfrm>
            <a:off x="7289800" y="2794000"/>
            <a:ext cx="35687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FFFFFF"/>
                </a:solidFill>
                <a:latin typeface="Aptos" panose="020B0004020202020204" pitchFamily="34" charset="0"/>
              </a:rPr>
              <a:t>Expected life: 4 to 30 years by class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0ED6A84-79E2-86EA-9C89-31258BC8C5C4}"/>
              </a:ext>
            </a:extLst>
          </p:cNvPr>
          <p:cNvSpPr/>
          <p:nvPr/>
        </p:nvSpPr>
        <p:spPr>
          <a:xfrm>
            <a:off x="7073900" y="33401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3320BB-0131-7E2C-F519-1C246F044F80}"/>
              </a:ext>
            </a:extLst>
          </p:cNvPr>
          <p:cNvSpPr txBox="1"/>
          <p:nvPr/>
        </p:nvSpPr>
        <p:spPr>
          <a:xfrm>
            <a:off x="7289800" y="3251200"/>
            <a:ext cx="35687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FFFFFF"/>
                </a:solidFill>
                <a:latin typeface="Aptos" panose="020B0004020202020204" pitchFamily="34" charset="0"/>
              </a:rPr>
              <a:t>Replacement estimates: $250 to $350,000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8DB1FC6-09D3-C06E-AFD0-07612C7A40AD}"/>
              </a:ext>
            </a:extLst>
          </p:cNvPr>
          <p:cNvSpPr/>
          <p:nvPr/>
        </p:nvSpPr>
        <p:spPr>
          <a:xfrm>
            <a:off x="7073900" y="37973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BD112E-9515-0D56-79F3-80F808F9210B}"/>
              </a:ext>
            </a:extLst>
          </p:cNvPr>
          <p:cNvSpPr txBox="1"/>
          <p:nvPr/>
        </p:nvSpPr>
        <p:spPr>
          <a:xfrm>
            <a:off x="7289800" y="3708400"/>
            <a:ext cx="35687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FFFFFF"/>
                </a:solidFill>
                <a:latin typeface="Aptos" panose="020B0004020202020204" pitchFamily="34" charset="0"/>
              </a:rPr>
              <a:t>Condition: operational, maintenance due, offline repair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784388E-067B-70E5-23E6-735971FBEC1D}"/>
              </a:ext>
            </a:extLst>
          </p:cNvPr>
          <p:cNvSpPr/>
          <p:nvPr/>
        </p:nvSpPr>
        <p:spPr>
          <a:xfrm>
            <a:off x="7073900" y="42545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251116-D6FA-0F64-861B-0F8DBA360CA3}"/>
              </a:ext>
            </a:extLst>
          </p:cNvPr>
          <p:cNvSpPr txBox="1"/>
          <p:nvPr/>
        </p:nvSpPr>
        <p:spPr>
          <a:xfrm>
            <a:off x="7289800" y="4165600"/>
            <a:ext cx="35687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FFFFFF"/>
                </a:solidFill>
                <a:latin typeface="Aptos" panose="020B0004020202020204" pitchFamily="34" charset="0"/>
              </a:rPr>
              <a:t>Criticality: low through critical, rating 1 to 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5B9B18F-6D77-9776-40BD-BB4B55FDC5E9}"/>
              </a:ext>
            </a:extLst>
          </p:cNvPr>
          <p:cNvSpPr/>
          <p:nvPr/>
        </p:nvSpPr>
        <p:spPr>
          <a:xfrm>
            <a:off x="7073900" y="47117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49772C-A561-6AA7-2BD2-C2D38866EDAC}"/>
              </a:ext>
            </a:extLst>
          </p:cNvPr>
          <p:cNvSpPr txBox="1"/>
          <p:nvPr/>
        </p:nvSpPr>
        <p:spPr>
          <a:xfrm>
            <a:off x="7289800" y="4622800"/>
            <a:ext cx="35687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FFFFFF"/>
                </a:solidFill>
                <a:latin typeface="Aptos" panose="020B0004020202020204" pitchFamily="34" charset="0"/>
              </a:rPr>
              <a:t>Warranty, annual maintenance cost, overdue days, and risk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71137F1-D2F2-01B4-7F91-A25AF0D54722}"/>
              </a:ext>
            </a:extLst>
          </p:cNvPr>
          <p:cNvSpPr/>
          <p:nvPr/>
        </p:nvSpPr>
        <p:spPr>
          <a:xfrm>
            <a:off x="7073900" y="51689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8C681B-9EA3-897B-AFF6-8638E7B4B3E3}"/>
              </a:ext>
            </a:extLst>
          </p:cNvPr>
          <p:cNvSpPr txBox="1"/>
          <p:nvPr/>
        </p:nvSpPr>
        <p:spPr>
          <a:xfrm>
            <a:off x="7289800" y="5080000"/>
            <a:ext cx="35687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FFFFFF"/>
                </a:solidFill>
                <a:latin typeface="Aptos" panose="020B0004020202020204" pitchFamily="34" charset="0"/>
              </a:rPr>
              <a:t>Inspection cadence: typically 90 to 730 days</a:t>
            </a:r>
          </a:p>
        </p:txBody>
      </p:sp>
    </p:spTree>
    <p:extLst>
      <p:ext uri="{BB962C8B-B14F-4D97-AF65-F5344CB8AC3E}">
        <p14:creationId xmlns:p14="http://schemas.microsoft.com/office/powerpoint/2010/main" val="799216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DFD2ED-29BD-1A3D-ABE0-39F0CB4A65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B166D0-10BF-9BBA-5840-0B9F3464B286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D218B-D8A1-16B6-79CC-DFBBD02B6F5C}"/>
              </a:ext>
            </a:extLst>
          </p:cNvPr>
          <p:cNvSpPr txBox="1"/>
          <p:nvPr/>
        </p:nvSpPr>
        <p:spPr>
          <a:xfrm>
            <a:off x="533400" y="304800"/>
            <a:ext cx="9652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0B7285"/>
                </a:solidFill>
                <a:latin typeface="Aptos" panose="020B0004020202020204" pitchFamily="34" charset="0"/>
              </a:rPr>
              <a:t>RELATIONSHIP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027C6-5C4A-2E30-2697-E73845CB72E2}"/>
              </a:ext>
            </a:extLst>
          </p:cNvPr>
          <p:cNvSpPr txBox="1"/>
          <p:nvPr/>
        </p:nvSpPr>
        <p:spPr>
          <a:xfrm>
            <a:off x="533400" y="635000"/>
            <a:ext cx="10922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700" b="1">
                <a:solidFill>
                  <a:srgbClr val="17324D"/>
                </a:solidFill>
                <a:latin typeface="Aptos" panose="020B0004020202020204" pitchFamily="34" charset="0"/>
              </a:rPr>
              <a:t>Every asset remains connected to place and history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471F4F-AE8E-AD9D-9718-F4D3F32F99CF}"/>
              </a:ext>
            </a:extLst>
          </p:cNvPr>
          <p:cNvSpPr txBox="1"/>
          <p:nvPr/>
        </p:nvSpPr>
        <p:spPr>
          <a:xfrm>
            <a:off x="558800" y="12573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GlobalIDs and GUIDs are authoritative within each output; business IDs remain stable across rebuilds.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03E68-716A-1247-5BF0-E217197FFA2A}"/>
              </a:ext>
            </a:extLst>
          </p:cNvPr>
          <p:cNvSpPr txBox="1"/>
          <p:nvPr/>
        </p:nvSpPr>
        <p:spPr>
          <a:xfrm>
            <a:off x="533400" y="6502400"/>
            <a:ext cx="11049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>
                <a:solidFill>
                  <a:srgbClr val="5D6B75"/>
                </a:solidFill>
                <a:latin typeface="Aptos" panose="020B0004020202020204" pitchFamily="34" charset="0"/>
              </a:rPr>
              <a:t>INDOORS ASSET CATALOG  |  09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3E2CA5-A778-194C-A214-9E06E6ADF25D}"/>
              </a:ext>
            </a:extLst>
          </p:cNvPr>
          <p:cNvSpPr/>
          <p:nvPr/>
        </p:nvSpPr>
        <p:spPr>
          <a:xfrm>
            <a:off x="571500" y="2159000"/>
            <a:ext cx="1333500" cy="660400"/>
          </a:xfrm>
          <a:prstGeom prst="roundRect">
            <a:avLst/>
          </a:prstGeom>
          <a:solidFill>
            <a:srgbClr val="17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317E8-5D72-9C35-8CDB-65335B282A7B}"/>
              </a:ext>
            </a:extLst>
          </p:cNvPr>
          <p:cNvSpPr txBox="1"/>
          <p:nvPr/>
        </p:nvSpPr>
        <p:spPr>
          <a:xfrm>
            <a:off x="622300" y="2362200"/>
            <a:ext cx="12319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SITE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E931DF-9002-E61A-81E2-C03F109EC314}"/>
              </a:ext>
            </a:extLst>
          </p:cNvPr>
          <p:cNvCxnSpPr/>
          <p:nvPr/>
        </p:nvCxnSpPr>
        <p:spPr>
          <a:xfrm>
            <a:off x="1955800" y="2489200"/>
            <a:ext cx="292100" cy="0"/>
          </a:xfrm>
          <a:prstGeom prst="line">
            <a:avLst/>
          </a:prstGeom>
          <a:ln w="22860">
            <a:solidFill>
              <a:srgbClr val="5D6B7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6439FC-6312-59A2-E6EF-C9DD99539CFB}"/>
              </a:ext>
            </a:extLst>
          </p:cNvPr>
          <p:cNvSpPr/>
          <p:nvPr/>
        </p:nvSpPr>
        <p:spPr>
          <a:xfrm>
            <a:off x="2336800" y="2159000"/>
            <a:ext cx="1524000" cy="660400"/>
          </a:xfrm>
          <a:prstGeom prst="round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C3745E-3B69-1E6B-9A2B-98BE6926A1EE}"/>
              </a:ext>
            </a:extLst>
          </p:cNvPr>
          <p:cNvSpPr txBox="1"/>
          <p:nvPr/>
        </p:nvSpPr>
        <p:spPr>
          <a:xfrm>
            <a:off x="2387600" y="2362200"/>
            <a:ext cx="1422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FACILITY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C625BD-E18B-74AB-598D-602750DEFFAF}"/>
              </a:ext>
            </a:extLst>
          </p:cNvPr>
          <p:cNvCxnSpPr/>
          <p:nvPr/>
        </p:nvCxnSpPr>
        <p:spPr>
          <a:xfrm>
            <a:off x="3911600" y="2489200"/>
            <a:ext cx="292100" cy="0"/>
          </a:xfrm>
          <a:prstGeom prst="line">
            <a:avLst/>
          </a:prstGeom>
          <a:ln w="22860">
            <a:solidFill>
              <a:srgbClr val="5D6B7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5F39B53-279C-6F31-CCDA-57CDA1BD31E4}"/>
              </a:ext>
            </a:extLst>
          </p:cNvPr>
          <p:cNvSpPr/>
          <p:nvPr/>
        </p:nvSpPr>
        <p:spPr>
          <a:xfrm>
            <a:off x="4292600" y="2159000"/>
            <a:ext cx="1333500" cy="660400"/>
          </a:xfrm>
          <a:prstGeom prst="roundRect">
            <a:avLst/>
          </a:prstGeom>
          <a:solidFill>
            <a:srgbClr val="287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7F79A2-CF52-7F0E-C387-8898D5797A10}"/>
              </a:ext>
            </a:extLst>
          </p:cNvPr>
          <p:cNvSpPr txBox="1"/>
          <p:nvPr/>
        </p:nvSpPr>
        <p:spPr>
          <a:xfrm>
            <a:off x="4343400" y="2362200"/>
            <a:ext cx="12319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CBEF93-2050-A985-C1E5-6AEBFF5878E0}"/>
              </a:ext>
            </a:extLst>
          </p:cNvPr>
          <p:cNvCxnSpPr/>
          <p:nvPr/>
        </p:nvCxnSpPr>
        <p:spPr>
          <a:xfrm>
            <a:off x="5676900" y="2489200"/>
            <a:ext cx="292100" cy="0"/>
          </a:xfrm>
          <a:prstGeom prst="line">
            <a:avLst/>
          </a:prstGeom>
          <a:ln w="22860">
            <a:solidFill>
              <a:srgbClr val="5D6B7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C2897DC-FA83-4EC7-C42A-8818D4379069}"/>
              </a:ext>
            </a:extLst>
          </p:cNvPr>
          <p:cNvSpPr/>
          <p:nvPr/>
        </p:nvSpPr>
        <p:spPr>
          <a:xfrm>
            <a:off x="6057900" y="2159000"/>
            <a:ext cx="1333500" cy="660400"/>
          </a:xfrm>
          <a:prstGeom prst="roundRect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5E47C-F4B8-1161-8992-0FD443F22218}"/>
              </a:ext>
            </a:extLst>
          </p:cNvPr>
          <p:cNvSpPr txBox="1"/>
          <p:nvPr/>
        </p:nvSpPr>
        <p:spPr>
          <a:xfrm>
            <a:off x="6108700" y="2362200"/>
            <a:ext cx="12319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UNIT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BAC1AE2-D0DD-366F-49CC-244285FEA3B7}"/>
              </a:ext>
            </a:extLst>
          </p:cNvPr>
          <p:cNvCxnSpPr/>
          <p:nvPr/>
        </p:nvCxnSpPr>
        <p:spPr>
          <a:xfrm>
            <a:off x="7442200" y="2489200"/>
            <a:ext cx="292100" cy="0"/>
          </a:xfrm>
          <a:prstGeom prst="line">
            <a:avLst/>
          </a:prstGeom>
          <a:ln w="22860">
            <a:solidFill>
              <a:srgbClr val="5D6B7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60AA6C9-AA9F-5F5D-1E34-2BEEA8C884F4}"/>
              </a:ext>
            </a:extLst>
          </p:cNvPr>
          <p:cNvSpPr/>
          <p:nvPr/>
        </p:nvSpPr>
        <p:spPr>
          <a:xfrm>
            <a:off x="7823200" y="2159000"/>
            <a:ext cx="1587500" cy="660400"/>
          </a:xfrm>
          <a:prstGeom prst="roundRect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3EBA02-CE0F-72D6-D0EE-6552075D134B}"/>
              </a:ext>
            </a:extLst>
          </p:cNvPr>
          <p:cNvSpPr txBox="1"/>
          <p:nvPr/>
        </p:nvSpPr>
        <p:spPr>
          <a:xfrm>
            <a:off x="7874000" y="2362200"/>
            <a:ext cx="14859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ASSET POINT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C0911D-7004-94F5-E2FB-FF70F34EBE5F}"/>
              </a:ext>
            </a:extLst>
          </p:cNvPr>
          <p:cNvCxnSpPr/>
          <p:nvPr/>
        </p:nvCxnSpPr>
        <p:spPr>
          <a:xfrm>
            <a:off x="9461500" y="2489200"/>
            <a:ext cx="292100" cy="0"/>
          </a:xfrm>
          <a:prstGeom prst="line">
            <a:avLst/>
          </a:prstGeom>
          <a:ln w="22860">
            <a:solidFill>
              <a:srgbClr val="5D6B7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00DDFD1-6F3D-9F5E-B8C3-95ACDDD260E7}"/>
              </a:ext>
            </a:extLst>
          </p:cNvPr>
          <p:cNvSpPr/>
          <p:nvPr/>
        </p:nvSpPr>
        <p:spPr>
          <a:xfrm>
            <a:off x="9842500" y="2159000"/>
            <a:ext cx="1587500" cy="660400"/>
          </a:xfrm>
          <a:prstGeom prst="roundRect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49CFB8-8DD3-D77F-607E-22FA22E3BC92}"/>
              </a:ext>
            </a:extLst>
          </p:cNvPr>
          <p:cNvSpPr txBox="1"/>
          <p:nvPr/>
        </p:nvSpPr>
        <p:spPr>
          <a:xfrm>
            <a:off x="9893300" y="2362200"/>
            <a:ext cx="14859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950" b="1">
                <a:solidFill>
                  <a:srgbClr val="FFFFFF"/>
                </a:solidFill>
                <a:latin typeface="Aptos" panose="020B0004020202020204" pitchFamily="34" charset="0"/>
              </a:rPr>
              <a:t>LIFECYCLE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DF0016F-8604-9A32-3CC1-EE109B44EE7F}"/>
              </a:ext>
            </a:extLst>
          </p:cNvPr>
          <p:cNvSpPr/>
          <p:nvPr/>
        </p:nvSpPr>
        <p:spPr>
          <a:xfrm>
            <a:off x="5778500" y="4127500"/>
            <a:ext cx="1270000" cy="609600"/>
          </a:xfrm>
          <a:prstGeom prst="roundRect">
            <a:avLst/>
          </a:prstGeom>
          <a:solidFill>
            <a:srgbClr val="DDF0F2"/>
          </a:solidFill>
          <a:ln w="10160">
            <a:solidFill>
              <a:srgbClr val="0B72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99A36B-EED2-7E96-E578-E33B313141A5}"/>
              </a:ext>
            </a:extLst>
          </p:cNvPr>
          <p:cNvSpPr txBox="1"/>
          <p:nvPr/>
        </p:nvSpPr>
        <p:spPr>
          <a:xfrm>
            <a:off x="5816600" y="4330700"/>
            <a:ext cx="11938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0B7285"/>
                </a:solidFill>
                <a:latin typeface="Aptos" panose="020B0004020202020204" pitchFamily="34" charset="0"/>
              </a:rPr>
              <a:t>INSPECTIONS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A7FE548-152E-A965-3167-2449936E4B65}"/>
              </a:ext>
            </a:extLst>
          </p:cNvPr>
          <p:cNvCxnSpPr/>
          <p:nvPr/>
        </p:nvCxnSpPr>
        <p:spPr>
          <a:xfrm flipH="1">
            <a:off x="6413500" y="2857500"/>
            <a:ext cx="2197100" cy="1231900"/>
          </a:xfrm>
          <a:prstGeom prst="line">
            <a:avLst/>
          </a:prstGeom>
          <a:ln w="17780">
            <a:solidFill>
              <a:srgbClr val="0B728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C63C834-5D31-36E9-5F7C-19331297E757}"/>
              </a:ext>
            </a:extLst>
          </p:cNvPr>
          <p:cNvSpPr/>
          <p:nvPr/>
        </p:nvSpPr>
        <p:spPr>
          <a:xfrm>
            <a:off x="7429500" y="4127500"/>
            <a:ext cx="1270000" cy="609600"/>
          </a:xfrm>
          <a:prstGeom prst="roundRect">
            <a:avLst/>
          </a:prstGeom>
          <a:solidFill>
            <a:srgbClr val="FCE6E0"/>
          </a:solidFill>
          <a:ln w="10160">
            <a:solidFill>
              <a:srgbClr val="E76F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EC09CB-FECA-CE46-833A-B139C2CD8F1D}"/>
              </a:ext>
            </a:extLst>
          </p:cNvPr>
          <p:cNvSpPr txBox="1"/>
          <p:nvPr/>
        </p:nvSpPr>
        <p:spPr>
          <a:xfrm>
            <a:off x="7467600" y="4330700"/>
            <a:ext cx="11938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E76F51"/>
                </a:solidFill>
                <a:latin typeface="Aptos" panose="020B0004020202020204" pitchFamily="34" charset="0"/>
              </a:rPr>
              <a:t>REPAIRS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54DB8B3-D7E9-C40C-89AB-7C1634FD18D7}"/>
              </a:ext>
            </a:extLst>
          </p:cNvPr>
          <p:cNvCxnSpPr/>
          <p:nvPr/>
        </p:nvCxnSpPr>
        <p:spPr>
          <a:xfrm flipH="1">
            <a:off x="8064500" y="2857500"/>
            <a:ext cx="546100" cy="1231900"/>
          </a:xfrm>
          <a:prstGeom prst="line">
            <a:avLst/>
          </a:prstGeom>
          <a:ln w="17780">
            <a:solidFill>
              <a:srgbClr val="E76F5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DF9978E-8AE2-C0DC-91F4-F1336D826085}"/>
              </a:ext>
            </a:extLst>
          </p:cNvPr>
          <p:cNvSpPr/>
          <p:nvPr/>
        </p:nvSpPr>
        <p:spPr>
          <a:xfrm>
            <a:off x="8826500" y="4127500"/>
            <a:ext cx="1270000" cy="609600"/>
          </a:xfrm>
          <a:prstGeom prst="roundRect">
            <a:avLst/>
          </a:prstGeom>
          <a:solidFill>
            <a:srgbClr val="FBF1D4"/>
          </a:solidFill>
          <a:ln w="10160">
            <a:solidFill>
              <a:srgbClr val="E9B4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6E33A5-1A2F-9E41-0CC1-114E607985FF}"/>
              </a:ext>
            </a:extLst>
          </p:cNvPr>
          <p:cNvSpPr txBox="1"/>
          <p:nvPr/>
        </p:nvSpPr>
        <p:spPr>
          <a:xfrm>
            <a:off x="8864600" y="4330700"/>
            <a:ext cx="11938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E9B44C"/>
                </a:solidFill>
                <a:latin typeface="Aptos" panose="020B0004020202020204" pitchFamily="34" charset="0"/>
              </a:rPr>
              <a:t>WORK ORDERS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34D08BA-C00A-4452-9114-485755F74DC9}"/>
              </a:ext>
            </a:extLst>
          </p:cNvPr>
          <p:cNvCxnSpPr/>
          <p:nvPr/>
        </p:nvCxnSpPr>
        <p:spPr>
          <a:xfrm>
            <a:off x="8610600" y="2857500"/>
            <a:ext cx="850900" cy="1231900"/>
          </a:xfrm>
          <a:prstGeom prst="line">
            <a:avLst/>
          </a:prstGeom>
          <a:ln w="17780">
            <a:solidFill>
              <a:srgbClr val="E9B44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1CD155E-9886-F8D8-4E59-000BF89E1680}"/>
              </a:ext>
            </a:extLst>
          </p:cNvPr>
          <p:cNvSpPr/>
          <p:nvPr/>
        </p:nvSpPr>
        <p:spPr>
          <a:xfrm>
            <a:off x="10477500" y="4127500"/>
            <a:ext cx="1270000" cy="609600"/>
          </a:xfrm>
          <a:prstGeom prst="roundRect">
            <a:avLst/>
          </a:prstGeom>
          <a:solidFill>
            <a:srgbClr val="E1F1E7"/>
          </a:solidFill>
          <a:ln w="10160">
            <a:solidFill>
              <a:srgbClr val="3D836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01F552-A56D-D833-6692-4D95BC144DC7}"/>
              </a:ext>
            </a:extLst>
          </p:cNvPr>
          <p:cNvSpPr txBox="1"/>
          <p:nvPr/>
        </p:nvSpPr>
        <p:spPr>
          <a:xfrm>
            <a:off x="10515600" y="4330700"/>
            <a:ext cx="11938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3D8361"/>
                </a:solidFill>
                <a:latin typeface="Aptos" panose="020B0004020202020204" pitchFamily="34" charset="0"/>
              </a:rPr>
              <a:t>DEPENDENCIES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BD477B3-091E-6F70-E6EF-D329D2E6EE52}"/>
              </a:ext>
            </a:extLst>
          </p:cNvPr>
          <p:cNvCxnSpPr/>
          <p:nvPr/>
        </p:nvCxnSpPr>
        <p:spPr>
          <a:xfrm>
            <a:off x="10642600" y="2857500"/>
            <a:ext cx="469900" cy="1231900"/>
          </a:xfrm>
          <a:prstGeom prst="line">
            <a:avLst/>
          </a:prstGeom>
          <a:ln w="17780">
            <a:solidFill>
              <a:srgbClr val="3D836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3770078-8603-CB06-8741-60340E98CBB7}"/>
              </a:ext>
            </a:extLst>
          </p:cNvPr>
          <p:cNvSpPr/>
          <p:nvPr/>
        </p:nvSpPr>
        <p:spPr>
          <a:xfrm>
            <a:off x="660400" y="3860800"/>
            <a:ext cx="4724400" cy="14859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2F4E67-6291-4617-3229-16069DC11CE2}"/>
              </a:ext>
            </a:extLst>
          </p:cNvPr>
          <p:cNvSpPr txBox="1"/>
          <p:nvPr/>
        </p:nvSpPr>
        <p:spPr>
          <a:xfrm>
            <a:off x="952500" y="4140200"/>
            <a:ext cx="41275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300" b="1">
                <a:solidFill>
                  <a:srgbClr val="17324D"/>
                </a:solidFill>
                <a:latin typeface="Aptos" panose="020B0004020202020204" pitchFamily="34" charset="0"/>
              </a:rPr>
              <a:t>Dual history linkage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22E0C2-2D72-F0D5-AC09-CF10432F5DBD}"/>
              </a:ext>
            </a:extLst>
          </p:cNvPr>
          <p:cNvSpPr txBox="1"/>
          <p:nvPr/>
        </p:nvSpPr>
        <p:spPr>
          <a:xfrm>
            <a:off x="952500" y="4584700"/>
            <a:ext cx="4127500" cy="53604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5D6B75"/>
                </a:solidFill>
                <a:latin typeface="Aptos" panose="020B0004020202020204" pitchFamily="34" charset="0"/>
              </a:rPr>
              <a:t>History rows carry both lifecycle and asset-point GUIDs. This supports lifecycle analysis and direct related records from floor-aware asset popups.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F4FC589-439A-CADA-54E2-7EE67C672FB8}"/>
              </a:ext>
            </a:extLst>
          </p:cNvPr>
          <p:cNvSpPr/>
          <p:nvPr/>
        </p:nvSpPr>
        <p:spPr>
          <a:xfrm>
            <a:off x="4953000" y="5664200"/>
            <a:ext cx="1625600" cy="279400"/>
          </a:xfrm>
          <a:prstGeom prst="roundRect">
            <a:avLst/>
          </a:prstGeom>
          <a:solidFill>
            <a:srgbClr val="E1F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72A01B-3E83-4FD7-7035-8C7C3948BF7D}"/>
              </a:ext>
            </a:extLst>
          </p:cNvPr>
          <p:cNvSpPr txBox="1"/>
          <p:nvPr/>
        </p:nvSpPr>
        <p:spPr>
          <a:xfrm>
            <a:off x="5003800" y="5676900"/>
            <a:ext cx="15240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3D8361"/>
                </a:solidFill>
                <a:latin typeface="Aptos" panose="020B0004020202020204" pitchFamily="34" charset="0"/>
              </a:rPr>
              <a:t>0 ORPHANS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FB80C11-A814-6BE1-F393-8083484BE9D0}"/>
              </a:ext>
            </a:extLst>
          </p:cNvPr>
          <p:cNvSpPr/>
          <p:nvPr/>
        </p:nvSpPr>
        <p:spPr>
          <a:xfrm>
            <a:off x="6705600" y="5664200"/>
            <a:ext cx="3175000" cy="279400"/>
          </a:xfrm>
          <a:prstGeom prst="roundRect">
            <a:avLst/>
          </a:prstGeom>
          <a:solidFill>
            <a:srgbClr val="DD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88D9EC-5D13-066B-5BDD-5D99EFC77604}"/>
              </a:ext>
            </a:extLst>
          </p:cNvPr>
          <p:cNvSpPr txBox="1"/>
          <p:nvPr/>
        </p:nvSpPr>
        <p:spPr>
          <a:xfrm>
            <a:off x="6756400" y="5676900"/>
            <a:ext cx="30734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0B7285"/>
                </a:solidFill>
                <a:latin typeface="Aptos" panose="020B0004020202020204" pitchFamily="34" charset="0"/>
              </a:rPr>
              <a:t>3 DIRECT HISTORY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870662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2FDAF4-C031-2D97-DA26-E751E82342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CC2166-D429-E513-11AE-3EE5B8869EFD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94057-CEFE-FC49-1744-982ECB9C4065}"/>
              </a:ext>
            </a:extLst>
          </p:cNvPr>
          <p:cNvSpPr txBox="1"/>
          <p:nvPr/>
        </p:nvSpPr>
        <p:spPr>
          <a:xfrm>
            <a:off x="533400" y="304800"/>
            <a:ext cx="9652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0B7285"/>
                </a:solidFill>
                <a:latin typeface="Aptos" panose="020B0004020202020204" pitchFamily="34" charset="0"/>
              </a:rPr>
              <a:t>DETERMINISTIC + LLM BOUNDARY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6D8DB-49E3-38E3-9C8D-3D2D6AE1D948}"/>
              </a:ext>
            </a:extLst>
          </p:cNvPr>
          <p:cNvSpPr txBox="1"/>
          <p:nvPr/>
        </p:nvSpPr>
        <p:spPr>
          <a:xfrm>
            <a:off x="533400" y="635000"/>
            <a:ext cx="10922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700" b="1">
                <a:solidFill>
                  <a:srgbClr val="17324D"/>
                </a:solidFill>
                <a:latin typeface="Aptos" panose="020B0004020202020204" pitchFamily="34" charset="0"/>
              </a:rPr>
              <a:t>Local AI adds wording, never authority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2DD7D-E4C3-A1EA-EFF7-95F1FB246F71}"/>
              </a:ext>
            </a:extLst>
          </p:cNvPr>
          <p:cNvSpPr txBox="1"/>
          <p:nvPr/>
        </p:nvSpPr>
        <p:spPr>
          <a:xfrm>
            <a:off x="558800" y="12573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A strict localhost response contract and deterministic fallback keep every record complete.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2B183F-CAD5-AA1C-385A-5CBC38DD4F08}"/>
              </a:ext>
            </a:extLst>
          </p:cNvPr>
          <p:cNvSpPr txBox="1"/>
          <p:nvPr/>
        </p:nvSpPr>
        <p:spPr>
          <a:xfrm>
            <a:off x="533400" y="6502400"/>
            <a:ext cx="11049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>
                <a:solidFill>
                  <a:srgbClr val="5D6B75"/>
                </a:solidFill>
                <a:latin typeface="Aptos" panose="020B0004020202020204" pitchFamily="34" charset="0"/>
              </a:rPr>
              <a:t>INDOORS ASSET CATALOG  |  10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F1E241-FE7A-01C1-2910-DDFCD6A8CB5C}"/>
              </a:ext>
            </a:extLst>
          </p:cNvPr>
          <p:cNvSpPr/>
          <p:nvPr/>
        </p:nvSpPr>
        <p:spPr>
          <a:xfrm>
            <a:off x="558800" y="1917700"/>
            <a:ext cx="5080000" cy="3860800"/>
          </a:xfrm>
          <a:prstGeom prst="roundRect">
            <a:avLst/>
          </a:prstGeom>
          <a:solidFill>
            <a:srgbClr val="17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6AC718-0E6D-EE71-4177-FC7F79FB76BD}"/>
              </a:ext>
            </a:extLst>
          </p:cNvPr>
          <p:cNvSpPr txBox="1"/>
          <p:nvPr/>
        </p:nvSpPr>
        <p:spPr>
          <a:xfrm>
            <a:off x="863600" y="2197100"/>
            <a:ext cx="4318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200" b="1">
                <a:solidFill>
                  <a:srgbClr val="E9B44C"/>
                </a:solidFill>
                <a:latin typeface="Aptos" panose="020B0004020202020204" pitchFamily="34" charset="0"/>
              </a:rPr>
              <a:t>DETERMINISTIC PYTHON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F3B65A-4780-B5BB-E277-E1EC0776038F}"/>
              </a:ext>
            </a:extLst>
          </p:cNvPr>
          <p:cNvSpPr/>
          <p:nvPr/>
        </p:nvSpPr>
        <p:spPr>
          <a:xfrm>
            <a:off x="914400" y="28067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1EE337-8340-C479-8847-352CB3F80F99}"/>
              </a:ext>
            </a:extLst>
          </p:cNvPr>
          <p:cNvSpPr txBox="1"/>
          <p:nvPr/>
        </p:nvSpPr>
        <p:spPr>
          <a:xfrm>
            <a:off x="1130300" y="2717800"/>
            <a:ext cx="3975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Aptos" panose="020B0004020202020204" pitchFamily="34" charset="0"/>
              </a:rPr>
              <a:t>IDs, hierarchy, and geometry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9FBD3E-2895-47DF-28EB-5AF5CE17FC55}"/>
              </a:ext>
            </a:extLst>
          </p:cNvPr>
          <p:cNvSpPr/>
          <p:nvPr/>
        </p:nvSpPr>
        <p:spPr>
          <a:xfrm>
            <a:off x="914400" y="33274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0277F7-260A-6481-2CE4-B5A8B821035B}"/>
              </a:ext>
            </a:extLst>
          </p:cNvPr>
          <p:cNvSpPr txBox="1"/>
          <p:nvPr/>
        </p:nvSpPr>
        <p:spPr>
          <a:xfrm>
            <a:off x="1130300" y="3238500"/>
            <a:ext cx="3975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Aptos" panose="020B0004020202020204" pitchFamily="34" charset="0"/>
              </a:rPr>
              <a:t>Asset quantities and classes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904DE10-4835-52C8-A8B7-7D0C99DAEF1D}"/>
              </a:ext>
            </a:extLst>
          </p:cNvPr>
          <p:cNvSpPr/>
          <p:nvPr/>
        </p:nvSpPr>
        <p:spPr>
          <a:xfrm>
            <a:off x="914400" y="38481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67F651-A132-6A9D-7112-C62D1ECF79B7}"/>
              </a:ext>
            </a:extLst>
          </p:cNvPr>
          <p:cNvSpPr txBox="1"/>
          <p:nvPr/>
        </p:nvSpPr>
        <p:spPr>
          <a:xfrm>
            <a:off x="1130300" y="3759200"/>
            <a:ext cx="3975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Aptos" panose="020B0004020202020204" pitchFamily="34" charset="0"/>
              </a:rPr>
              <a:t>Dates, cohorts, conditions, and statuses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D81E455-C9B1-96EB-21EC-94A1D75E154E}"/>
              </a:ext>
            </a:extLst>
          </p:cNvPr>
          <p:cNvSpPr/>
          <p:nvPr/>
        </p:nvSpPr>
        <p:spPr>
          <a:xfrm>
            <a:off x="914400" y="43688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7D0DC4-C48F-2657-5BF3-26EBC3270FF9}"/>
              </a:ext>
            </a:extLst>
          </p:cNvPr>
          <p:cNvSpPr txBox="1"/>
          <p:nvPr/>
        </p:nvSpPr>
        <p:spPr>
          <a:xfrm>
            <a:off x="1130300" y="4279900"/>
            <a:ext cx="3975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Aptos" panose="020B0004020202020204" pitchFamily="34" charset="0"/>
              </a:rPr>
              <a:t>Costs, warranty, maintenance, and risk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E883EC-C41D-D589-9BE9-4CB0F4AC2AC4}"/>
              </a:ext>
            </a:extLst>
          </p:cNvPr>
          <p:cNvSpPr/>
          <p:nvPr/>
        </p:nvSpPr>
        <p:spPr>
          <a:xfrm>
            <a:off x="914400" y="48895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20F871-118D-DB70-C684-C27AEA01989C}"/>
              </a:ext>
            </a:extLst>
          </p:cNvPr>
          <p:cNvSpPr txBox="1"/>
          <p:nvPr/>
        </p:nvSpPr>
        <p:spPr>
          <a:xfrm>
            <a:off x="1130300" y="4800600"/>
            <a:ext cx="3975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FFFFFF"/>
                </a:solidFill>
                <a:latin typeface="Aptos" panose="020B0004020202020204" pitchFamily="34" charset="0"/>
              </a:rPr>
              <a:t>Relationships and validation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207F9B9-9F46-B5D8-0823-028EEBD0ECD8}"/>
              </a:ext>
            </a:extLst>
          </p:cNvPr>
          <p:cNvSpPr/>
          <p:nvPr/>
        </p:nvSpPr>
        <p:spPr>
          <a:xfrm>
            <a:off x="6070600" y="1917700"/>
            <a:ext cx="5486400" cy="3860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2F8A1F-4C26-F4DC-A8A3-3503C1B41C2B}"/>
              </a:ext>
            </a:extLst>
          </p:cNvPr>
          <p:cNvSpPr txBox="1"/>
          <p:nvPr/>
        </p:nvSpPr>
        <p:spPr>
          <a:xfrm>
            <a:off x="6388100" y="2197100"/>
            <a:ext cx="457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200" b="1">
                <a:solidFill>
                  <a:srgbClr val="0B7285"/>
                </a:solidFill>
                <a:latin typeface="Aptos" panose="020B0004020202020204" pitchFamily="34" charset="0"/>
              </a:rPr>
              <a:t>OPTIONAL LOCAL NARRATOR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7ACE71-DA62-FE0C-4E61-1830724FBFAB}"/>
              </a:ext>
            </a:extLst>
          </p:cNvPr>
          <p:cNvSpPr txBox="1"/>
          <p:nvPr/>
        </p:nvSpPr>
        <p:spPr>
          <a:xfrm>
            <a:off x="6388100" y="2743200"/>
            <a:ext cx="1968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000" b="1">
                <a:solidFill>
                  <a:srgbClr val="17324D"/>
                </a:solidFill>
                <a:latin typeface="Aptos" panose="020B0004020202020204" pitchFamily="34" charset="0"/>
              </a:rPr>
              <a:t>5,912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17E26E-23C6-2300-5AF9-CEA46D619303}"/>
              </a:ext>
            </a:extLst>
          </p:cNvPr>
          <p:cNvSpPr txBox="1"/>
          <p:nvPr/>
        </p:nvSpPr>
        <p:spPr>
          <a:xfrm>
            <a:off x="6388100" y="3162300"/>
            <a:ext cx="19685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opportunities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D13801-F6E3-C73E-5EB5-DE00BA100D91}"/>
              </a:ext>
            </a:extLst>
          </p:cNvPr>
          <p:cNvSpPr txBox="1"/>
          <p:nvPr/>
        </p:nvSpPr>
        <p:spPr>
          <a:xfrm>
            <a:off x="8801100" y="2743200"/>
            <a:ext cx="1968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000" b="1">
                <a:solidFill>
                  <a:srgbClr val="2878B5"/>
                </a:solidFill>
                <a:latin typeface="Aptos" panose="020B0004020202020204" pitchFamily="34" charset="0"/>
              </a:rPr>
              <a:t>500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88C52C-C2AD-B851-33D7-E5C6D7EBCBBA}"/>
              </a:ext>
            </a:extLst>
          </p:cNvPr>
          <p:cNvSpPr txBox="1"/>
          <p:nvPr/>
        </p:nvSpPr>
        <p:spPr>
          <a:xfrm>
            <a:off x="8801100" y="3162300"/>
            <a:ext cx="19685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requests sent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7B7F99-649C-A3D5-DDEB-0CC18DFF53DC}"/>
              </a:ext>
            </a:extLst>
          </p:cNvPr>
          <p:cNvSpPr txBox="1"/>
          <p:nvPr/>
        </p:nvSpPr>
        <p:spPr>
          <a:xfrm>
            <a:off x="6388100" y="3746500"/>
            <a:ext cx="1968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000" b="1">
                <a:solidFill>
                  <a:srgbClr val="3D8361"/>
                </a:solidFill>
                <a:latin typeface="Aptos" panose="020B0004020202020204" pitchFamily="34" charset="0"/>
              </a:rPr>
              <a:t>498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411CDB-B474-F7FD-ED99-FECC0AB04004}"/>
              </a:ext>
            </a:extLst>
          </p:cNvPr>
          <p:cNvSpPr txBox="1"/>
          <p:nvPr/>
        </p:nvSpPr>
        <p:spPr>
          <a:xfrm>
            <a:off x="6388100" y="4165600"/>
            <a:ext cx="19685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accepted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0A321A-23F5-F19B-364D-B6BB833EB677}"/>
              </a:ext>
            </a:extLst>
          </p:cNvPr>
          <p:cNvSpPr txBox="1"/>
          <p:nvPr/>
        </p:nvSpPr>
        <p:spPr>
          <a:xfrm>
            <a:off x="8801100" y="3746500"/>
            <a:ext cx="19685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000" b="1">
                <a:solidFill>
                  <a:srgbClr val="E76F51"/>
                </a:solidFill>
                <a:latin typeface="Aptos" panose="020B0004020202020204" pitchFamily="34" charset="0"/>
              </a:rPr>
              <a:t>5,414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F3C75E-D4FC-D548-F3BF-CFEBB6631F2A}"/>
              </a:ext>
            </a:extLst>
          </p:cNvPr>
          <p:cNvSpPr txBox="1"/>
          <p:nvPr/>
        </p:nvSpPr>
        <p:spPr>
          <a:xfrm>
            <a:off x="8801100" y="4165600"/>
            <a:ext cx="19685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fallbacks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F11D0C-89F1-5364-3614-FECBD57EDB68}"/>
              </a:ext>
            </a:extLst>
          </p:cNvPr>
          <p:cNvCxnSpPr/>
          <p:nvPr/>
        </p:nvCxnSpPr>
        <p:spPr>
          <a:xfrm>
            <a:off x="6388100" y="4775200"/>
            <a:ext cx="4584700" cy="0"/>
          </a:xfrm>
          <a:prstGeom prst="line">
            <a:avLst/>
          </a:prstGeom>
          <a:ln w="19050">
            <a:solidFill>
              <a:srgbClr val="D4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903B56C-42E6-E573-F7A4-46B49D4A2F89}"/>
              </a:ext>
            </a:extLst>
          </p:cNvPr>
          <p:cNvSpPr txBox="1"/>
          <p:nvPr/>
        </p:nvSpPr>
        <p:spPr>
          <a:xfrm>
            <a:off x="6388100" y="4953000"/>
            <a:ext cx="9525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17324D"/>
                </a:solidFill>
                <a:latin typeface="Aptos" panose="020B0004020202020204" pitchFamily="34" charset="0"/>
              </a:rPr>
              <a:t>Contract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602372-D25A-EAAA-5D88-1638C6B9A704}"/>
              </a:ext>
            </a:extLst>
          </p:cNvPr>
          <p:cNvSpPr txBox="1"/>
          <p:nvPr/>
        </p:nvSpPr>
        <p:spPr>
          <a:xfrm>
            <a:off x="7416800" y="4953000"/>
            <a:ext cx="35687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00">
                <a:solidFill>
                  <a:srgbClr val="5D6B75"/>
                </a:solidFill>
                <a:latin typeface="Aptos" panose="020B0004020202020204" pitchFamily="34" charset="0"/>
              </a:rPr>
              <a:t>localhost only  |  exactly one text field  |  500 characters max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748151-E441-FEED-2016-BDEC4B6985C1}"/>
              </a:ext>
            </a:extLst>
          </p:cNvPr>
          <p:cNvSpPr txBox="1"/>
          <p:nvPr/>
        </p:nvSpPr>
        <p:spPr>
          <a:xfrm>
            <a:off x="6388100" y="5422900"/>
            <a:ext cx="45847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sv-SE" sz="850" b="1">
                <a:solidFill>
                  <a:srgbClr val="E76F51"/>
                </a:solidFill>
                <a:latin typeface="Aptos" panose="020B0004020202020204" pitchFamily="34" charset="0"/>
              </a:rPr>
              <a:t>2 transport fallbacks  |  5,412 budget fallbacks  |  0 invalid responses</a:t>
            </a:r>
            <a:endParaRPr lang="en-US" sz="850" b="1">
              <a:solidFill>
                <a:srgbClr val="E76F5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54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5AF09B-286A-8252-AEE4-D526DAB5E5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080B4E-5644-070A-FC67-86AA7E7229F0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DCD39E-1023-1D5A-E94A-069BCDD51F12}"/>
              </a:ext>
            </a:extLst>
          </p:cNvPr>
          <p:cNvSpPr txBox="1"/>
          <p:nvPr/>
        </p:nvSpPr>
        <p:spPr>
          <a:xfrm>
            <a:off x="533400" y="304800"/>
            <a:ext cx="9652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0B7285"/>
                </a:solidFill>
                <a:latin typeface="Aptos" panose="020B0004020202020204" pitchFamily="34" charset="0"/>
              </a:rPr>
              <a:t>QUALITY CONTROLS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08E9D-6E88-1EF3-5F5A-8F6A79631C0D}"/>
              </a:ext>
            </a:extLst>
          </p:cNvPr>
          <p:cNvSpPr txBox="1"/>
          <p:nvPr/>
        </p:nvSpPr>
        <p:spPr>
          <a:xfrm>
            <a:off x="533400" y="635000"/>
            <a:ext cx="10922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700" b="1">
                <a:solidFill>
                  <a:srgbClr val="17324D"/>
                </a:solidFill>
                <a:latin typeface="Aptos" panose="020B0004020202020204" pitchFamily="34" charset="0"/>
              </a:rPr>
              <a:t>Validation makes the catalog demonstrably coherent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1896D8-C03A-8C9C-B2B9-4441621B3F0B}"/>
              </a:ext>
            </a:extLst>
          </p:cNvPr>
          <p:cNvSpPr txBox="1"/>
          <p:nvPr/>
        </p:nvSpPr>
        <p:spPr>
          <a:xfrm>
            <a:off x="558800" y="12573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The manifest is the run audit record; tests protect deterministic behavior and promotion recovery.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B2C7A3-1254-2038-38DA-9D99E016F8C4}"/>
              </a:ext>
            </a:extLst>
          </p:cNvPr>
          <p:cNvSpPr txBox="1"/>
          <p:nvPr/>
        </p:nvSpPr>
        <p:spPr>
          <a:xfrm>
            <a:off x="533400" y="6502400"/>
            <a:ext cx="11049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>
                <a:solidFill>
                  <a:srgbClr val="5D6B75"/>
                </a:solidFill>
                <a:latin typeface="Aptos" panose="020B0004020202020204" pitchFamily="34" charset="0"/>
              </a:rPr>
              <a:t>INDOORS ASSET CATALOG  |  11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03A3A9F-F961-87F5-317A-2F46CCC8CD14}"/>
              </a:ext>
            </a:extLst>
          </p:cNvPr>
          <p:cNvSpPr/>
          <p:nvPr/>
        </p:nvSpPr>
        <p:spPr>
          <a:xfrm>
            <a:off x="558800" y="1917700"/>
            <a:ext cx="3162300" cy="3886200"/>
          </a:xfrm>
          <a:prstGeom prst="roundRect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7F6DB-4B5D-B2EC-C085-B66103DB25A1}"/>
              </a:ext>
            </a:extLst>
          </p:cNvPr>
          <p:cNvSpPr txBox="1"/>
          <p:nvPr/>
        </p:nvSpPr>
        <p:spPr>
          <a:xfrm>
            <a:off x="825500" y="2247900"/>
            <a:ext cx="26035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5800" b="1">
                <a:solidFill>
                  <a:srgbClr val="FFFFFF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906A58-1842-2CEB-01C1-3587DF27C24B}"/>
              </a:ext>
            </a:extLst>
          </p:cNvPr>
          <p:cNvSpPr txBox="1"/>
          <p:nvPr/>
        </p:nvSpPr>
        <p:spPr>
          <a:xfrm>
            <a:off x="850900" y="3340100"/>
            <a:ext cx="25527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Aptos" panose="020B0004020202020204" pitchFamily="34" charset="0"/>
              </a:rPr>
              <a:t>orphan references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3BD8EE-3129-3F85-9A18-FD9C50EE792E}"/>
              </a:ext>
            </a:extLst>
          </p:cNvPr>
          <p:cNvCxnSpPr/>
          <p:nvPr/>
        </p:nvCxnSpPr>
        <p:spPr>
          <a:xfrm>
            <a:off x="939800" y="3975100"/>
            <a:ext cx="2400300" cy="0"/>
          </a:xfrm>
          <a:prstGeom prst="line">
            <a:avLst/>
          </a:prstGeom>
          <a:ln w="15240">
            <a:solidFill>
              <a:srgbClr val="E1F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1F0377D-245F-760D-0B25-3114FC1EDB3E}"/>
              </a:ext>
            </a:extLst>
          </p:cNvPr>
          <p:cNvSpPr txBox="1"/>
          <p:nvPr/>
        </p:nvSpPr>
        <p:spPr>
          <a:xfrm>
            <a:off x="1041400" y="4254500"/>
            <a:ext cx="8890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800" b="1">
                <a:solidFill>
                  <a:srgbClr val="FBF1D4"/>
                </a:solidFill>
                <a:latin typeface="Aptos" panose="020B0004020202020204" pitchFamily="34" charset="0"/>
              </a:rPr>
              <a:t>59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AD8A6A-5976-5439-5608-123384B16225}"/>
              </a:ext>
            </a:extLst>
          </p:cNvPr>
          <p:cNvSpPr txBox="1"/>
          <p:nvPr/>
        </p:nvSpPr>
        <p:spPr>
          <a:xfrm>
            <a:off x="1917700" y="4343400"/>
            <a:ext cx="13716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FFFFFF"/>
                </a:solidFill>
                <a:latin typeface="Aptos" panose="020B0004020202020204" pitchFamily="34" charset="0"/>
              </a:rPr>
              <a:t>non-schema tests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92589B-4381-DE31-343C-D73BBC8100A9}"/>
              </a:ext>
            </a:extLst>
          </p:cNvPr>
          <p:cNvSpPr txBox="1"/>
          <p:nvPr/>
        </p:nvSpPr>
        <p:spPr>
          <a:xfrm>
            <a:off x="1041400" y="4991100"/>
            <a:ext cx="889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400" b="1">
                <a:solidFill>
                  <a:srgbClr val="DDF0F2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F4004C-2512-57E4-1F0D-722E00B9D942}"/>
              </a:ext>
            </a:extLst>
          </p:cNvPr>
          <p:cNvSpPr txBox="1"/>
          <p:nvPr/>
        </p:nvSpPr>
        <p:spPr>
          <a:xfrm>
            <a:off x="1917700" y="4991100"/>
            <a:ext cx="13716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Aptos" panose="020B0004020202020204" pitchFamily="34" charset="0"/>
              </a:rPr>
              <a:t>notebook code cells compile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98195A-9EA5-6144-1627-CF962969F1BF}"/>
              </a:ext>
            </a:extLst>
          </p:cNvPr>
          <p:cNvSpPr txBox="1"/>
          <p:nvPr/>
        </p:nvSpPr>
        <p:spPr>
          <a:xfrm>
            <a:off x="4229100" y="1955800"/>
            <a:ext cx="3556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500" b="1">
                <a:solidFill>
                  <a:srgbClr val="17324D"/>
                </a:solidFill>
                <a:latin typeface="Aptos" panose="020B0004020202020204" pitchFamily="34" charset="0"/>
              </a:rPr>
              <a:t>Validated contracts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7445B65-3D0B-1DE4-E7C6-E8C8FE11394E}"/>
              </a:ext>
            </a:extLst>
          </p:cNvPr>
          <p:cNvSpPr/>
          <p:nvPr/>
        </p:nvSpPr>
        <p:spPr>
          <a:xfrm>
            <a:off x="4292600" y="2641600"/>
            <a:ext cx="101600" cy="1016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016422-FE3F-F913-6AF1-D0FCD304E339}"/>
              </a:ext>
            </a:extLst>
          </p:cNvPr>
          <p:cNvSpPr txBox="1"/>
          <p:nvPr/>
        </p:nvSpPr>
        <p:spPr>
          <a:xfrm>
            <a:off x="4508500" y="2552700"/>
            <a:ext cx="6769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Exact Site, Facility, Level, Unit, and asset identities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CC820E-0619-0B3D-E3E0-B1D8A6D05147}"/>
              </a:ext>
            </a:extLst>
          </p:cNvPr>
          <p:cNvSpPr/>
          <p:nvPr/>
        </p:nvSpPr>
        <p:spPr>
          <a:xfrm>
            <a:off x="4292600" y="3162300"/>
            <a:ext cx="101600" cy="1016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0AD140-5D3D-37B3-80DB-CF14BFE30F71}"/>
              </a:ext>
            </a:extLst>
          </p:cNvPr>
          <p:cNvSpPr txBox="1"/>
          <p:nvPr/>
        </p:nvSpPr>
        <p:spPr>
          <a:xfrm>
            <a:off x="4508500" y="3073400"/>
            <a:ext cx="6769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Complete parentage and relationship GUIDs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8512E7A-64EA-9CA4-F646-F6A724C5F373}"/>
              </a:ext>
            </a:extLst>
          </p:cNvPr>
          <p:cNvSpPr/>
          <p:nvPr/>
        </p:nvSpPr>
        <p:spPr>
          <a:xfrm>
            <a:off x="4292600" y="3683000"/>
            <a:ext cx="101600" cy="1016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4C73F4-7C77-8D5B-3A0B-404E5330908C}"/>
              </a:ext>
            </a:extLst>
          </p:cNvPr>
          <p:cNvSpPr txBox="1"/>
          <p:nvPr/>
        </p:nvSpPr>
        <p:spPr>
          <a:xfrm>
            <a:off x="4508500" y="3594100"/>
            <a:ext cx="6769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Generated geometry containment and room-program continuity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1BABDF7-CB8C-7366-57AC-17CF5FE1874F}"/>
              </a:ext>
            </a:extLst>
          </p:cNvPr>
          <p:cNvSpPr/>
          <p:nvPr/>
        </p:nvSpPr>
        <p:spPr>
          <a:xfrm>
            <a:off x="4292600" y="4203700"/>
            <a:ext cx="101600" cy="1016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0CE89E-640F-AADD-CE12-5F23DFC924CB}"/>
              </a:ext>
            </a:extLst>
          </p:cNvPr>
          <p:cNvSpPr txBox="1"/>
          <p:nvPr/>
        </p:nvSpPr>
        <p:spPr>
          <a:xfrm>
            <a:off x="4508500" y="4114800"/>
            <a:ext cx="6769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Inspection date bounds and latest-inspection consistency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13314D7-3F04-D137-7909-5B70564CC900}"/>
              </a:ext>
            </a:extLst>
          </p:cNvPr>
          <p:cNvSpPr/>
          <p:nvPr/>
        </p:nvSpPr>
        <p:spPr>
          <a:xfrm>
            <a:off x="4292600" y="4724400"/>
            <a:ext cx="101600" cy="1016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2B530B-E2B2-3637-0911-A3F23AC1BA1A}"/>
              </a:ext>
            </a:extLst>
          </p:cNvPr>
          <p:cNvSpPr txBox="1"/>
          <p:nvPr/>
        </p:nvSpPr>
        <p:spPr>
          <a:xfrm>
            <a:off x="4508500" y="4635500"/>
            <a:ext cx="6769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Exact lifecycle cohorts and imported Vertex preservation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3F6F81D-BCB9-37CA-B62A-1AEC4BAA4BA7}"/>
              </a:ext>
            </a:extLst>
          </p:cNvPr>
          <p:cNvSpPr/>
          <p:nvPr/>
        </p:nvSpPr>
        <p:spPr>
          <a:xfrm>
            <a:off x="4292600" y="5245100"/>
            <a:ext cx="101600" cy="1016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3D77AF-4662-3244-B3AC-663638DF38D4}"/>
              </a:ext>
            </a:extLst>
          </p:cNvPr>
          <p:cNvSpPr txBox="1"/>
          <p:nvPr/>
        </p:nvSpPr>
        <p:spPr>
          <a:xfrm>
            <a:off x="4508500" y="5156200"/>
            <a:ext cx="6769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Lock-safe staged promotion with reusable validated recovery</a:t>
            </a:r>
          </a:p>
        </p:txBody>
      </p:sp>
    </p:spTree>
    <p:extLst>
      <p:ext uri="{BB962C8B-B14F-4D97-AF65-F5344CB8AC3E}">
        <p14:creationId xmlns:p14="http://schemas.microsoft.com/office/powerpoint/2010/main" val="724593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58EF92-FA8C-64C6-B1A5-C4A46D66AC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D13E22-9843-7B7B-63AE-4DF0E5D01371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C404C3-B2CA-969F-B702-A73B69F6510F}"/>
              </a:ext>
            </a:extLst>
          </p:cNvPr>
          <p:cNvSpPr txBox="1"/>
          <p:nvPr/>
        </p:nvSpPr>
        <p:spPr>
          <a:xfrm>
            <a:off x="533400" y="304800"/>
            <a:ext cx="9652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0B7285"/>
                </a:solidFill>
                <a:latin typeface="Aptos" panose="020B0004020202020204" pitchFamily="34" charset="0"/>
              </a:rPr>
              <a:t>RUN SEQUENCE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724466-93F0-D053-3D52-06F1591903FA}"/>
              </a:ext>
            </a:extLst>
          </p:cNvPr>
          <p:cNvSpPr txBox="1"/>
          <p:nvPr/>
        </p:nvSpPr>
        <p:spPr>
          <a:xfrm>
            <a:off x="533400" y="635000"/>
            <a:ext cx="10922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700" b="1">
                <a:solidFill>
                  <a:srgbClr val="17324D"/>
                </a:solidFill>
                <a:latin typeface="Aptos" panose="020B0004020202020204" pitchFamily="34" charset="0"/>
              </a:rPr>
              <a:t>The operator path is controlled and reviewable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4BB13-23BC-7C2D-98C3-DD42F97A5643}"/>
              </a:ext>
            </a:extLst>
          </p:cNvPr>
          <p:cNvSpPr txBox="1"/>
          <p:nvPr/>
        </p:nvSpPr>
        <p:spPr>
          <a:xfrm>
            <a:off x="558800" y="12573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Production schema and catalog work runs in the ArcGIS Pro 3.7.2 notebook kernel.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DAC430-05EF-8607-6DCC-FE83B8830E42}"/>
              </a:ext>
            </a:extLst>
          </p:cNvPr>
          <p:cNvSpPr txBox="1"/>
          <p:nvPr/>
        </p:nvSpPr>
        <p:spPr>
          <a:xfrm>
            <a:off x="533400" y="6502400"/>
            <a:ext cx="11049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>
                <a:solidFill>
                  <a:srgbClr val="5D6B75"/>
                </a:solidFill>
                <a:latin typeface="Aptos" panose="020B0004020202020204" pitchFamily="34" charset="0"/>
              </a:rPr>
              <a:t>INDOORS ASSET CATALOG  |  12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AF3B1A-DAC5-ED00-FCA2-525771564C92}"/>
              </a:ext>
            </a:extLst>
          </p:cNvPr>
          <p:cNvSpPr/>
          <p:nvPr/>
        </p:nvSpPr>
        <p:spPr>
          <a:xfrm>
            <a:off x="596900" y="2108200"/>
            <a:ext cx="533400" cy="533400"/>
          </a:xfrm>
          <a:prstGeom prst="ellipse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1D2667-3342-AF50-F257-BA7AE0A93F73}"/>
              </a:ext>
            </a:extLst>
          </p:cNvPr>
          <p:cNvSpPr txBox="1"/>
          <p:nvPr/>
        </p:nvSpPr>
        <p:spPr>
          <a:xfrm>
            <a:off x="596900" y="2235200"/>
            <a:ext cx="5334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B9503B-ADD9-163D-F1D2-EBA8166214E7}"/>
              </a:ext>
            </a:extLst>
          </p:cNvPr>
          <p:cNvSpPr txBox="1"/>
          <p:nvPr/>
        </p:nvSpPr>
        <p:spPr>
          <a:xfrm>
            <a:off x="1308100" y="2120900"/>
            <a:ext cx="1841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 b="1">
                <a:solidFill>
                  <a:srgbClr val="17324D"/>
                </a:solidFill>
                <a:latin typeface="Aptos" panose="020B0004020202020204" pitchFamily="34" charset="0"/>
              </a:rPr>
              <a:t>Configure paths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D51BEC-3166-8197-2187-EA1713DAB619}"/>
              </a:ext>
            </a:extLst>
          </p:cNvPr>
          <p:cNvSpPr txBox="1"/>
          <p:nvPr/>
        </p:nvSpPr>
        <p:spPr>
          <a:xfrm>
            <a:off x="1308100" y="2476500"/>
            <a:ext cx="18415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00">
                <a:solidFill>
                  <a:srgbClr val="5D6B75"/>
                </a:solidFill>
                <a:latin typeface="Aptos" panose="020B0004020202020204" pitchFamily="34" charset="0"/>
              </a:rPr>
              <a:t>Repository and source GDB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8DD399-701E-0369-3D61-931E532BDB5A}"/>
              </a:ext>
            </a:extLst>
          </p:cNvPr>
          <p:cNvCxnSpPr/>
          <p:nvPr/>
        </p:nvCxnSpPr>
        <p:spPr>
          <a:xfrm>
            <a:off x="3124200" y="2362200"/>
            <a:ext cx="203200" cy="0"/>
          </a:xfrm>
          <a:prstGeom prst="line">
            <a:avLst/>
          </a:prstGeom>
          <a:ln w="21590">
            <a:solidFill>
              <a:srgbClr val="E76F5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0CA7F3E3-FC54-FAA3-7E62-B56E991EE319}"/>
              </a:ext>
            </a:extLst>
          </p:cNvPr>
          <p:cNvSpPr/>
          <p:nvPr/>
        </p:nvSpPr>
        <p:spPr>
          <a:xfrm>
            <a:off x="3390900" y="2108200"/>
            <a:ext cx="533400" cy="533400"/>
          </a:xfrm>
          <a:prstGeom prst="ellipse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7782B9-3D25-CEAE-5618-82FF29640C0E}"/>
              </a:ext>
            </a:extLst>
          </p:cNvPr>
          <p:cNvSpPr txBox="1"/>
          <p:nvPr/>
        </p:nvSpPr>
        <p:spPr>
          <a:xfrm>
            <a:off x="3390900" y="2235200"/>
            <a:ext cx="5334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A759DB-9758-EB14-48A3-4CC9B4A0B5B3}"/>
              </a:ext>
            </a:extLst>
          </p:cNvPr>
          <p:cNvSpPr txBox="1"/>
          <p:nvPr/>
        </p:nvSpPr>
        <p:spPr>
          <a:xfrm>
            <a:off x="4102100" y="2120900"/>
            <a:ext cx="1841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 b="1">
                <a:solidFill>
                  <a:srgbClr val="17324D"/>
                </a:solidFill>
                <a:latin typeface="Aptos" panose="020B0004020202020204" pitchFamily="34" charset="0"/>
              </a:rPr>
              <a:t>Preflight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99B5CD-AA90-1D05-DA60-62EA4D718796}"/>
              </a:ext>
            </a:extLst>
          </p:cNvPr>
          <p:cNvSpPr txBox="1"/>
          <p:nvPr/>
        </p:nvSpPr>
        <p:spPr>
          <a:xfrm>
            <a:off x="4102100" y="2476500"/>
            <a:ext cx="18415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00">
                <a:solidFill>
                  <a:srgbClr val="5D6B75"/>
                </a:solidFill>
                <a:latin typeface="Aptos" panose="020B0004020202020204" pitchFamily="34" charset="0"/>
              </a:rPr>
              <a:t>Environment, source, Ollama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506CAEE-302F-3814-FA23-78B626B9F218}"/>
              </a:ext>
            </a:extLst>
          </p:cNvPr>
          <p:cNvCxnSpPr/>
          <p:nvPr/>
        </p:nvCxnSpPr>
        <p:spPr>
          <a:xfrm>
            <a:off x="5918200" y="2362200"/>
            <a:ext cx="203200" cy="0"/>
          </a:xfrm>
          <a:prstGeom prst="line">
            <a:avLst/>
          </a:prstGeom>
          <a:ln w="21590">
            <a:solidFill>
              <a:srgbClr val="E76F5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F4612E9-DA7B-80A0-C956-6FABDCA6E52F}"/>
              </a:ext>
            </a:extLst>
          </p:cNvPr>
          <p:cNvSpPr/>
          <p:nvPr/>
        </p:nvSpPr>
        <p:spPr>
          <a:xfrm>
            <a:off x="6184900" y="2108200"/>
            <a:ext cx="533400" cy="533400"/>
          </a:xfrm>
          <a:prstGeom prst="ellipse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918CDE-D5A0-A184-F719-285B54C380A2}"/>
              </a:ext>
            </a:extLst>
          </p:cNvPr>
          <p:cNvSpPr txBox="1"/>
          <p:nvPr/>
        </p:nvSpPr>
        <p:spPr>
          <a:xfrm>
            <a:off x="6184900" y="2235200"/>
            <a:ext cx="5334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8EF3F6-C818-E738-7A5E-A659841B7975}"/>
              </a:ext>
            </a:extLst>
          </p:cNvPr>
          <p:cNvSpPr txBox="1"/>
          <p:nvPr/>
        </p:nvSpPr>
        <p:spPr>
          <a:xfrm>
            <a:off x="6896100" y="2120900"/>
            <a:ext cx="1841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 b="1">
                <a:solidFill>
                  <a:srgbClr val="17324D"/>
                </a:solidFill>
                <a:latin typeface="Aptos" panose="020B0004020202020204" pitchFamily="34" charset="0"/>
              </a:rPr>
              <a:t>Enrich Vertex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F5F2C3-99E0-93BA-11CD-E8E833722EC4}"/>
              </a:ext>
            </a:extLst>
          </p:cNvPr>
          <p:cNvSpPr txBox="1"/>
          <p:nvPr/>
        </p:nvSpPr>
        <p:spPr>
          <a:xfrm>
            <a:off x="6896100" y="2476500"/>
            <a:ext cx="18415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00">
                <a:solidFill>
                  <a:srgbClr val="5D6B75"/>
                </a:solidFill>
                <a:latin typeface="Aptos" panose="020B0004020202020204" pitchFamily="34" charset="0"/>
              </a:rPr>
              <a:t>Create separate output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F58BBB-5EB2-5C22-D2D0-0B06A7B76081}"/>
              </a:ext>
            </a:extLst>
          </p:cNvPr>
          <p:cNvCxnSpPr/>
          <p:nvPr/>
        </p:nvCxnSpPr>
        <p:spPr>
          <a:xfrm>
            <a:off x="8712200" y="2362200"/>
            <a:ext cx="203200" cy="0"/>
          </a:xfrm>
          <a:prstGeom prst="line">
            <a:avLst/>
          </a:prstGeom>
          <a:ln w="21590">
            <a:solidFill>
              <a:srgbClr val="E76F5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9E766EB-17D6-36B3-A1D7-76DCBBC56A96}"/>
              </a:ext>
            </a:extLst>
          </p:cNvPr>
          <p:cNvSpPr/>
          <p:nvPr/>
        </p:nvSpPr>
        <p:spPr>
          <a:xfrm>
            <a:off x="8978900" y="2108200"/>
            <a:ext cx="533400" cy="533400"/>
          </a:xfrm>
          <a:prstGeom prst="ellipse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9C86F6-110C-F640-1269-46E393FD36DB}"/>
              </a:ext>
            </a:extLst>
          </p:cNvPr>
          <p:cNvSpPr txBox="1"/>
          <p:nvPr/>
        </p:nvSpPr>
        <p:spPr>
          <a:xfrm>
            <a:off x="8978900" y="2235200"/>
            <a:ext cx="5334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723912-4850-8ADF-DB44-BAE7532D5A55}"/>
              </a:ext>
            </a:extLst>
          </p:cNvPr>
          <p:cNvSpPr txBox="1"/>
          <p:nvPr/>
        </p:nvSpPr>
        <p:spPr>
          <a:xfrm>
            <a:off x="9690100" y="2120900"/>
            <a:ext cx="1841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 b="1">
                <a:solidFill>
                  <a:srgbClr val="17324D"/>
                </a:solidFill>
                <a:latin typeface="Aptos" panose="020B0004020202020204" pitchFamily="34" charset="0"/>
              </a:rPr>
              <a:t>Review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D0ABF5-52FC-F9E0-C806-457015A0C124}"/>
              </a:ext>
            </a:extLst>
          </p:cNvPr>
          <p:cNvSpPr txBox="1"/>
          <p:nvPr/>
        </p:nvSpPr>
        <p:spPr>
          <a:xfrm>
            <a:off x="9690100" y="2476500"/>
            <a:ext cx="18415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00">
                <a:solidFill>
                  <a:srgbClr val="5D6B75"/>
                </a:solidFill>
                <a:latin typeface="Aptos" panose="020B0004020202020204" pitchFamily="34" charset="0"/>
              </a:rPr>
              <a:t>Manifest and relationships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2FFA76-9996-96E6-226F-DBFDF77406B6}"/>
              </a:ext>
            </a:extLst>
          </p:cNvPr>
          <p:cNvSpPr/>
          <p:nvPr/>
        </p:nvSpPr>
        <p:spPr>
          <a:xfrm>
            <a:off x="1993900" y="4114800"/>
            <a:ext cx="533400" cy="533400"/>
          </a:xfrm>
          <a:prstGeom prst="ellipse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3C39BE-809F-9DF2-B8D0-6135529EF348}"/>
              </a:ext>
            </a:extLst>
          </p:cNvPr>
          <p:cNvSpPr txBox="1"/>
          <p:nvPr/>
        </p:nvSpPr>
        <p:spPr>
          <a:xfrm>
            <a:off x="1993900" y="4241800"/>
            <a:ext cx="5334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8FB945-5CB3-D687-1CDA-CFDE83284BAB}"/>
              </a:ext>
            </a:extLst>
          </p:cNvPr>
          <p:cNvSpPr txBox="1"/>
          <p:nvPr/>
        </p:nvSpPr>
        <p:spPr>
          <a:xfrm>
            <a:off x="2705100" y="4127500"/>
            <a:ext cx="1841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 b="1">
                <a:solidFill>
                  <a:srgbClr val="17324D"/>
                </a:solidFill>
                <a:latin typeface="Aptos" panose="020B0004020202020204" pitchFamily="34" charset="0"/>
              </a:rPr>
              <a:t>Build catalog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C0958E-C798-5D09-C3DB-49F11EE9258D}"/>
              </a:ext>
            </a:extLst>
          </p:cNvPr>
          <p:cNvSpPr txBox="1"/>
          <p:nvPr/>
        </p:nvSpPr>
        <p:spPr>
          <a:xfrm>
            <a:off x="2705100" y="4483100"/>
            <a:ext cx="18415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00">
                <a:solidFill>
                  <a:srgbClr val="5D6B75"/>
                </a:solidFill>
                <a:latin typeface="Aptos" panose="020B0004020202020204" pitchFamily="34" charset="0"/>
              </a:rPr>
              <a:t>Stage six facilities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1BB251-BC02-111C-29FC-86863B13362E}"/>
              </a:ext>
            </a:extLst>
          </p:cNvPr>
          <p:cNvCxnSpPr/>
          <p:nvPr/>
        </p:nvCxnSpPr>
        <p:spPr>
          <a:xfrm>
            <a:off x="4521200" y="4368800"/>
            <a:ext cx="203200" cy="0"/>
          </a:xfrm>
          <a:prstGeom prst="line">
            <a:avLst/>
          </a:prstGeom>
          <a:ln w="21590">
            <a:solidFill>
              <a:srgbClr val="E76F5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12DF20BD-DB13-26E1-8CF7-8E983160A71B}"/>
              </a:ext>
            </a:extLst>
          </p:cNvPr>
          <p:cNvSpPr/>
          <p:nvPr/>
        </p:nvSpPr>
        <p:spPr>
          <a:xfrm>
            <a:off x="4787900" y="4114800"/>
            <a:ext cx="533400" cy="5334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425F0A-BCD5-CE96-416F-E5ED62A12F54}"/>
              </a:ext>
            </a:extLst>
          </p:cNvPr>
          <p:cNvSpPr txBox="1"/>
          <p:nvPr/>
        </p:nvSpPr>
        <p:spPr>
          <a:xfrm>
            <a:off x="4787900" y="4241800"/>
            <a:ext cx="5334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B3757A-CF90-D067-044E-6A0E5AA5595D}"/>
              </a:ext>
            </a:extLst>
          </p:cNvPr>
          <p:cNvSpPr txBox="1"/>
          <p:nvPr/>
        </p:nvSpPr>
        <p:spPr>
          <a:xfrm>
            <a:off x="5499100" y="4127500"/>
            <a:ext cx="1841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 b="1">
                <a:solidFill>
                  <a:srgbClr val="17324D"/>
                </a:solidFill>
                <a:latin typeface="Aptos" panose="020B0004020202020204" pitchFamily="34" charset="0"/>
              </a:rPr>
              <a:t>Validate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4E1F45-01A7-C202-1CEC-F8607D528190}"/>
              </a:ext>
            </a:extLst>
          </p:cNvPr>
          <p:cNvSpPr txBox="1"/>
          <p:nvPr/>
        </p:nvSpPr>
        <p:spPr>
          <a:xfrm>
            <a:off x="5499100" y="4483100"/>
            <a:ext cx="18415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00">
                <a:solidFill>
                  <a:srgbClr val="5D6B75"/>
                </a:solidFill>
                <a:latin typeface="Aptos" panose="020B0004020202020204" pitchFamily="34" charset="0"/>
              </a:rPr>
              <a:t>Counts, geometry, GUIDs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1630B15-19CF-2BE2-B14A-E2B392FC108C}"/>
              </a:ext>
            </a:extLst>
          </p:cNvPr>
          <p:cNvCxnSpPr/>
          <p:nvPr/>
        </p:nvCxnSpPr>
        <p:spPr>
          <a:xfrm>
            <a:off x="7315200" y="4368800"/>
            <a:ext cx="203200" cy="0"/>
          </a:xfrm>
          <a:prstGeom prst="line">
            <a:avLst/>
          </a:prstGeom>
          <a:ln w="21590">
            <a:solidFill>
              <a:srgbClr val="E76F5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7FFC9B5F-7F11-3FFF-2541-32490E2FE03E}"/>
              </a:ext>
            </a:extLst>
          </p:cNvPr>
          <p:cNvSpPr/>
          <p:nvPr/>
        </p:nvSpPr>
        <p:spPr>
          <a:xfrm>
            <a:off x="7581900" y="4114800"/>
            <a:ext cx="533400" cy="5334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BC3DBB-7B84-C3DF-9C8A-910745E84E66}"/>
              </a:ext>
            </a:extLst>
          </p:cNvPr>
          <p:cNvSpPr txBox="1"/>
          <p:nvPr/>
        </p:nvSpPr>
        <p:spPr>
          <a:xfrm>
            <a:off x="7581900" y="4241800"/>
            <a:ext cx="5334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E057F5-671A-3D83-0C50-D2B0D217A44E}"/>
              </a:ext>
            </a:extLst>
          </p:cNvPr>
          <p:cNvSpPr txBox="1"/>
          <p:nvPr/>
        </p:nvSpPr>
        <p:spPr>
          <a:xfrm>
            <a:off x="8293100" y="4127500"/>
            <a:ext cx="18415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 b="1">
                <a:solidFill>
                  <a:srgbClr val="17324D"/>
                </a:solidFill>
                <a:latin typeface="Aptos" panose="020B0004020202020204" pitchFamily="34" charset="0"/>
              </a:rPr>
              <a:t>Promote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650D5A-EC34-E862-36DF-60AFEAE47661}"/>
              </a:ext>
            </a:extLst>
          </p:cNvPr>
          <p:cNvSpPr txBox="1"/>
          <p:nvPr/>
        </p:nvSpPr>
        <p:spPr>
          <a:xfrm>
            <a:off x="8293100" y="4483100"/>
            <a:ext cx="18415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00">
                <a:solidFill>
                  <a:srgbClr val="5D6B75"/>
                </a:solidFill>
                <a:latin typeface="Aptos" panose="020B0004020202020204" pitchFamily="34" charset="0"/>
              </a:rPr>
              <a:t>Atomic rename to canonical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F0BF606-2637-8927-CB5C-410AA73B254B}"/>
              </a:ext>
            </a:extLst>
          </p:cNvPr>
          <p:cNvSpPr/>
          <p:nvPr/>
        </p:nvSpPr>
        <p:spPr>
          <a:xfrm>
            <a:off x="596900" y="5778500"/>
            <a:ext cx="10947400" cy="406400"/>
          </a:xfrm>
          <a:prstGeom prst="roundRect">
            <a:avLst/>
          </a:prstGeom>
          <a:solidFill>
            <a:srgbClr val="FBF1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D07952-DC36-D54C-1322-B47988F3F35E}"/>
              </a:ext>
            </a:extLst>
          </p:cNvPr>
          <p:cNvSpPr txBox="1"/>
          <p:nvPr/>
        </p:nvSpPr>
        <p:spPr>
          <a:xfrm>
            <a:off x="787400" y="5867400"/>
            <a:ext cx="105664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950" b="1">
                <a:solidFill>
                  <a:srgbClr val="17324D"/>
                </a:solidFill>
                <a:latin typeface="Aptos" panose="020B0004020202020204" pitchFamily="34" charset="0"/>
              </a:rPr>
              <a:t>Close layers, standalone tables, attribute tables, and Catalog views that reference the old catalog before promotion.</a:t>
            </a:r>
          </a:p>
        </p:txBody>
      </p:sp>
    </p:spTree>
    <p:extLst>
      <p:ext uri="{BB962C8B-B14F-4D97-AF65-F5344CB8AC3E}">
        <p14:creationId xmlns:p14="http://schemas.microsoft.com/office/powerpoint/2010/main" val="1401265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83E367-E38E-66F8-AAD1-321D056C70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4CC908-95E3-48F4-5A18-AA0BCE096D93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C2E5C-4CF6-B3E6-5962-9B665CA6FCE8}"/>
              </a:ext>
            </a:extLst>
          </p:cNvPr>
          <p:cNvSpPr txBox="1"/>
          <p:nvPr/>
        </p:nvSpPr>
        <p:spPr>
          <a:xfrm>
            <a:off x="533400" y="304800"/>
            <a:ext cx="9652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0B7285"/>
                </a:solidFill>
                <a:latin typeface="Aptos" panose="020B0004020202020204" pitchFamily="34" charset="0"/>
              </a:rPr>
              <a:t>PROMOTION AND RECOVERY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E3442-A8C4-4F06-63AF-547611BE80C6}"/>
              </a:ext>
            </a:extLst>
          </p:cNvPr>
          <p:cNvSpPr txBox="1"/>
          <p:nvPr/>
        </p:nvSpPr>
        <p:spPr>
          <a:xfrm>
            <a:off x="533400" y="635000"/>
            <a:ext cx="10922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700" b="1">
                <a:solidFill>
                  <a:srgbClr val="17324D"/>
                </a:solidFill>
                <a:latin typeface="Aptos" panose="020B0004020202020204" pitchFamily="34" charset="0"/>
              </a:rPr>
              <a:t>Staging protects the previous catalog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2E32F-7BC7-D4D4-C0F1-1B8E9F9CE6F7}"/>
              </a:ext>
            </a:extLst>
          </p:cNvPr>
          <p:cNvSpPr txBox="1"/>
          <p:nvPr/>
        </p:nvSpPr>
        <p:spPr>
          <a:xfrm>
            <a:off x="558800" y="12573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A validated build is reused after a lock failure; expensive generation does not repeat.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07798-2AC9-06A4-3272-066A6FD07F1C}"/>
              </a:ext>
            </a:extLst>
          </p:cNvPr>
          <p:cNvSpPr txBox="1"/>
          <p:nvPr/>
        </p:nvSpPr>
        <p:spPr>
          <a:xfrm>
            <a:off x="533400" y="6502400"/>
            <a:ext cx="11049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>
                <a:solidFill>
                  <a:srgbClr val="5D6B75"/>
                </a:solidFill>
                <a:latin typeface="Aptos" panose="020B0004020202020204" pitchFamily="34" charset="0"/>
              </a:rPr>
              <a:t>INDOORS ASSET CATALOG  |  13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4E9264-CBF0-02D1-C776-A34762E967FF}"/>
              </a:ext>
            </a:extLst>
          </p:cNvPr>
          <p:cNvSpPr/>
          <p:nvPr/>
        </p:nvSpPr>
        <p:spPr>
          <a:xfrm>
            <a:off x="622300" y="2159000"/>
            <a:ext cx="3111500" cy="1981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93920D-394A-B2BE-33E6-418093C7E9E7}"/>
              </a:ext>
            </a:extLst>
          </p:cNvPr>
          <p:cNvSpPr/>
          <p:nvPr/>
        </p:nvSpPr>
        <p:spPr>
          <a:xfrm>
            <a:off x="622300" y="2159000"/>
            <a:ext cx="3111500" cy="114300"/>
          </a:xfrm>
          <a:prstGeom prst="roundRect">
            <a:avLst/>
          </a:prstGeom>
          <a:solidFill>
            <a:srgbClr val="287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188AF78-A11B-3AEE-F6C8-6D72262C5FFD}"/>
              </a:ext>
            </a:extLst>
          </p:cNvPr>
          <p:cNvSpPr/>
          <p:nvPr/>
        </p:nvSpPr>
        <p:spPr>
          <a:xfrm>
            <a:off x="850900" y="2451100"/>
            <a:ext cx="1155700" cy="279400"/>
          </a:xfrm>
          <a:prstGeom prst="roundRect">
            <a:avLst/>
          </a:prstGeom>
          <a:solidFill>
            <a:srgbClr val="E4EE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FC18C0-04B7-BDA5-D971-C207657051DB}"/>
              </a:ext>
            </a:extLst>
          </p:cNvPr>
          <p:cNvSpPr txBox="1"/>
          <p:nvPr/>
        </p:nvSpPr>
        <p:spPr>
          <a:xfrm>
            <a:off x="901700" y="2463800"/>
            <a:ext cx="10541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2878B5"/>
                </a:solidFill>
                <a:latin typeface="Aptos" panose="020B0004020202020204" pitchFamily="34" charset="0"/>
              </a:rPr>
              <a:t>BUILD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FAC58D-D188-5FAE-4C27-E0B5B111CB23}"/>
              </a:ext>
            </a:extLst>
          </p:cNvPr>
          <p:cNvSpPr txBox="1"/>
          <p:nvPr/>
        </p:nvSpPr>
        <p:spPr>
          <a:xfrm>
            <a:off x="850900" y="2971800"/>
            <a:ext cx="26162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400" b="1">
                <a:solidFill>
                  <a:srgbClr val="17324D"/>
                </a:solidFill>
                <a:latin typeface="Aptos" panose="020B0004020202020204" pitchFamily="34" charset="0"/>
              </a:rPr>
              <a:t>_building.gdb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DB9296-D79D-0101-B3EE-CDEB667AF968}"/>
              </a:ext>
            </a:extLst>
          </p:cNvPr>
          <p:cNvSpPr txBox="1"/>
          <p:nvPr/>
        </p:nvSpPr>
        <p:spPr>
          <a:xfrm>
            <a:off x="850900" y="3479800"/>
            <a:ext cx="26162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Generate hierarchy, assets, and history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E5D382-F6ED-5BCF-DEDA-A6783DDCC40E}"/>
              </a:ext>
            </a:extLst>
          </p:cNvPr>
          <p:cNvCxnSpPr/>
          <p:nvPr/>
        </p:nvCxnSpPr>
        <p:spPr>
          <a:xfrm>
            <a:off x="3771900" y="3149600"/>
            <a:ext cx="444500" cy="0"/>
          </a:xfrm>
          <a:prstGeom prst="line">
            <a:avLst/>
          </a:prstGeom>
          <a:ln w="27940">
            <a:solidFill>
              <a:srgbClr val="E76F5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3C4495-4BFF-868A-197F-EB41485D8855}"/>
              </a:ext>
            </a:extLst>
          </p:cNvPr>
          <p:cNvSpPr/>
          <p:nvPr/>
        </p:nvSpPr>
        <p:spPr>
          <a:xfrm>
            <a:off x="4330700" y="2159000"/>
            <a:ext cx="3111500" cy="1981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3FE8465-EBAA-6B82-55E9-80D3FA4A3C8C}"/>
              </a:ext>
            </a:extLst>
          </p:cNvPr>
          <p:cNvSpPr/>
          <p:nvPr/>
        </p:nvSpPr>
        <p:spPr>
          <a:xfrm>
            <a:off x="4330700" y="2159000"/>
            <a:ext cx="3111500" cy="114300"/>
          </a:xfrm>
          <a:prstGeom prst="round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17925DC-203A-2E84-8216-E0C5E0611675}"/>
              </a:ext>
            </a:extLst>
          </p:cNvPr>
          <p:cNvSpPr/>
          <p:nvPr/>
        </p:nvSpPr>
        <p:spPr>
          <a:xfrm>
            <a:off x="4559300" y="2451100"/>
            <a:ext cx="1155700" cy="279400"/>
          </a:xfrm>
          <a:prstGeom prst="roundRect">
            <a:avLst/>
          </a:prstGeom>
          <a:solidFill>
            <a:srgbClr val="DD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B76DA4-1039-9C24-F6DB-1A3F84BB3CD8}"/>
              </a:ext>
            </a:extLst>
          </p:cNvPr>
          <p:cNvSpPr txBox="1"/>
          <p:nvPr/>
        </p:nvSpPr>
        <p:spPr>
          <a:xfrm>
            <a:off x="4610100" y="2463800"/>
            <a:ext cx="10541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0B7285"/>
                </a:solidFill>
                <a:latin typeface="Aptos" panose="020B0004020202020204" pitchFamily="34" charset="0"/>
              </a:rPr>
              <a:t>VALIDATE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26D3D5-FE44-BC8A-74DE-D6B884F99404}"/>
              </a:ext>
            </a:extLst>
          </p:cNvPr>
          <p:cNvSpPr txBox="1"/>
          <p:nvPr/>
        </p:nvSpPr>
        <p:spPr>
          <a:xfrm>
            <a:off x="4559300" y="2971800"/>
            <a:ext cx="26162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400" b="1">
                <a:solidFill>
                  <a:srgbClr val="17324D"/>
                </a:solidFill>
                <a:latin typeface="Aptos" panose="020B0004020202020204" pitchFamily="34" charset="0"/>
              </a:rPr>
              <a:t>manifest.json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39763E-C71B-038F-1FA2-09A86EE21A0B}"/>
              </a:ext>
            </a:extLst>
          </p:cNvPr>
          <p:cNvSpPr txBox="1"/>
          <p:nvPr/>
        </p:nvSpPr>
        <p:spPr>
          <a:xfrm>
            <a:off x="4559300" y="3479800"/>
            <a:ext cx="26162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Check counts, geometry, preservation, and relationships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773260A-6F1E-B10E-BB74-529D08945153}"/>
              </a:ext>
            </a:extLst>
          </p:cNvPr>
          <p:cNvCxnSpPr/>
          <p:nvPr/>
        </p:nvCxnSpPr>
        <p:spPr>
          <a:xfrm>
            <a:off x="7480300" y="3149600"/>
            <a:ext cx="444500" cy="0"/>
          </a:xfrm>
          <a:prstGeom prst="line">
            <a:avLst/>
          </a:prstGeom>
          <a:ln w="27940">
            <a:solidFill>
              <a:srgbClr val="E76F5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4C4CA73-0D32-7993-9FF4-009C678D704A}"/>
              </a:ext>
            </a:extLst>
          </p:cNvPr>
          <p:cNvSpPr/>
          <p:nvPr/>
        </p:nvSpPr>
        <p:spPr>
          <a:xfrm>
            <a:off x="8039100" y="2159000"/>
            <a:ext cx="3111500" cy="1981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2328EB8-AC35-EC69-C16E-C5F4CCCC9861}"/>
              </a:ext>
            </a:extLst>
          </p:cNvPr>
          <p:cNvSpPr/>
          <p:nvPr/>
        </p:nvSpPr>
        <p:spPr>
          <a:xfrm>
            <a:off x="8039100" y="2159000"/>
            <a:ext cx="3111500" cy="114300"/>
          </a:xfrm>
          <a:prstGeom prst="roundRect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D44F47B-D635-D165-3324-4636107B8A1F}"/>
              </a:ext>
            </a:extLst>
          </p:cNvPr>
          <p:cNvSpPr/>
          <p:nvPr/>
        </p:nvSpPr>
        <p:spPr>
          <a:xfrm>
            <a:off x="8267700" y="2451100"/>
            <a:ext cx="1155700" cy="279400"/>
          </a:xfrm>
          <a:prstGeom prst="roundRect">
            <a:avLst/>
          </a:prstGeom>
          <a:solidFill>
            <a:srgbClr val="E1F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26A52B-4210-C39C-7627-871D77211D4A}"/>
              </a:ext>
            </a:extLst>
          </p:cNvPr>
          <p:cNvSpPr txBox="1"/>
          <p:nvPr/>
        </p:nvSpPr>
        <p:spPr>
          <a:xfrm>
            <a:off x="8318500" y="2463800"/>
            <a:ext cx="10541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3D8361"/>
                </a:solidFill>
                <a:latin typeface="Aptos" panose="020B0004020202020204" pitchFamily="34" charset="0"/>
              </a:rPr>
              <a:t>PROMOTE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59CA1A-CE28-F507-BF36-9136DFA46EE1}"/>
              </a:ext>
            </a:extLst>
          </p:cNvPr>
          <p:cNvSpPr txBox="1"/>
          <p:nvPr/>
        </p:nvSpPr>
        <p:spPr>
          <a:xfrm>
            <a:off x="8267700" y="2971800"/>
            <a:ext cx="26162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400" b="1">
                <a:solidFill>
                  <a:srgbClr val="17324D"/>
                </a:solidFill>
                <a:latin typeface="Aptos" panose="020B0004020202020204" pitchFamily="34" charset="0"/>
              </a:rPr>
              <a:t>canonical .gdb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930A25-76B1-5384-C948-6D1B9FDE6325}"/>
              </a:ext>
            </a:extLst>
          </p:cNvPr>
          <p:cNvSpPr txBox="1"/>
          <p:nvPr/>
        </p:nvSpPr>
        <p:spPr>
          <a:xfrm>
            <a:off x="8267700" y="3479800"/>
            <a:ext cx="2616200" cy="19749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5D6B75"/>
                </a:solidFill>
                <a:latin typeface="Aptos" panose="020B0004020202020204" pitchFamily="34" charset="0"/>
              </a:rPr>
              <a:t>Atomically rename validated workspace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6E9046-FBD8-96B1-A5ED-84C0968B9A3D}"/>
              </a:ext>
            </a:extLst>
          </p:cNvPr>
          <p:cNvCxnSpPr/>
          <p:nvPr/>
        </p:nvCxnSpPr>
        <p:spPr>
          <a:xfrm>
            <a:off x="9575800" y="4165600"/>
            <a:ext cx="0" cy="596900"/>
          </a:xfrm>
          <a:prstGeom prst="line">
            <a:avLst/>
          </a:prstGeom>
          <a:ln w="27940">
            <a:solidFill>
              <a:srgbClr val="E76F5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8A0D9EB-DE55-20EB-088E-3B8ADE9333A2}"/>
              </a:ext>
            </a:extLst>
          </p:cNvPr>
          <p:cNvSpPr/>
          <p:nvPr/>
        </p:nvSpPr>
        <p:spPr>
          <a:xfrm>
            <a:off x="6388100" y="4800600"/>
            <a:ext cx="5207000" cy="927100"/>
          </a:xfrm>
          <a:prstGeom prst="roundRect">
            <a:avLst/>
          </a:prstGeom>
          <a:solidFill>
            <a:srgbClr val="FCE6E0"/>
          </a:solidFill>
          <a:ln w="10160">
            <a:solidFill>
              <a:srgbClr val="E76F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525763-FE4B-DDFB-5DBE-FDD8EBC21B4E}"/>
              </a:ext>
            </a:extLst>
          </p:cNvPr>
          <p:cNvSpPr txBox="1"/>
          <p:nvPr/>
        </p:nvSpPr>
        <p:spPr>
          <a:xfrm>
            <a:off x="6642100" y="4991100"/>
            <a:ext cx="15494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00" b="1">
                <a:solidFill>
                  <a:srgbClr val="E76F51"/>
                </a:solidFill>
                <a:latin typeface="Aptos" panose="020B0004020202020204" pitchFamily="34" charset="0"/>
              </a:rPr>
              <a:t>LOCK DETECTED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258C84-1349-0C76-E7E3-1A93C6CD4347}"/>
              </a:ext>
            </a:extLst>
          </p:cNvPr>
          <p:cNvSpPr txBox="1"/>
          <p:nvPr/>
        </p:nvSpPr>
        <p:spPr>
          <a:xfrm>
            <a:off x="8293100" y="4940300"/>
            <a:ext cx="30226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17324D"/>
                </a:solidFill>
                <a:latin typeface="Aptos" panose="020B0004020202020204" pitchFamily="34" charset="0"/>
              </a:rPr>
              <a:t>Keep the validated staging catalog, close old references, and rerun the final workflow cell.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4C2E3E1-AD0E-DC39-FA6F-875F543FA2C2}"/>
              </a:ext>
            </a:extLst>
          </p:cNvPr>
          <p:cNvSpPr/>
          <p:nvPr/>
        </p:nvSpPr>
        <p:spPr>
          <a:xfrm>
            <a:off x="622300" y="4660900"/>
            <a:ext cx="5130800" cy="1066800"/>
          </a:xfrm>
          <a:prstGeom prst="roundRect">
            <a:avLst/>
          </a:prstGeom>
          <a:solidFill>
            <a:srgbClr val="17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DACAAD-B60F-128F-E858-75F7249D89DB}"/>
              </a:ext>
            </a:extLst>
          </p:cNvPr>
          <p:cNvSpPr txBox="1"/>
          <p:nvPr/>
        </p:nvSpPr>
        <p:spPr>
          <a:xfrm>
            <a:off x="901700" y="4876800"/>
            <a:ext cx="18415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 b="1">
                <a:solidFill>
                  <a:srgbClr val="E9B44C"/>
                </a:solidFill>
                <a:latin typeface="Aptos" panose="020B0004020202020204" pitchFamily="34" charset="0"/>
              </a:rPr>
              <a:t>Recovery result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C0F423-3228-B157-ACFC-6235184DDA66}"/>
              </a:ext>
            </a:extLst>
          </p:cNvPr>
          <p:cNvSpPr txBox="1"/>
          <p:nvPr/>
        </p:nvSpPr>
        <p:spPr>
          <a:xfrm>
            <a:off x="901700" y="5219700"/>
            <a:ext cx="4495800" cy="3436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950">
                <a:solidFill>
                  <a:srgbClr val="FFFFFF"/>
                </a:solidFill>
                <a:latin typeface="Aptos" panose="020B0004020202020204" pitchFamily="34" charset="0"/>
              </a:rPr>
              <a:t>The successful run reused staging and promoted in seconds rather than rebuilding the 27-minute catalog.</a:t>
            </a:r>
          </a:p>
        </p:txBody>
      </p:sp>
    </p:spTree>
    <p:extLst>
      <p:ext uri="{BB962C8B-B14F-4D97-AF65-F5344CB8AC3E}">
        <p14:creationId xmlns:p14="http://schemas.microsoft.com/office/powerpoint/2010/main" val="2083456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8A114C-7D64-16D1-B0A0-D7A43117B2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69F762-380C-F626-7416-B0A46322FD6D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23AFFE-4ABC-8DE8-1100-125F19B4983C}"/>
              </a:ext>
            </a:extLst>
          </p:cNvPr>
          <p:cNvSpPr txBox="1"/>
          <p:nvPr/>
        </p:nvSpPr>
        <p:spPr>
          <a:xfrm>
            <a:off x="533400" y="304800"/>
            <a:ext cx="9652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0B7285"/>
                </a:solidFill>
                <a:latin typeface="Aptos" panose="020B0004020202020204" pitchFamily="34" charset="0"/>
              </a:rPr>
              <a:t>APPLICATION PATTERNS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B7484-04D3-11FD-6420-8D6E5014C0C2}"/>
              </a:ext>
            </a:extLst>
          </p:cNvPr>
          <p:cNvSpPr txBox="1"/>
          <p:nvPr/>
        </p:nvSpPr>
        <p:spPr>
          <a:xfrm>
            <a:off x="533400" y="635000"/>
            <a:ext cx="10922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700" b="1">
                <a:solidFill>
                  <a:srgbClr val="17324D"/>
                </a:solidFill>
                <a:latin typeface="Aptos" panose="020B0004020202020204" pitchFamily="34" charset="0"/>
              </a:rPr>
              <a:t>One catalog supports several demonstration stories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A7453D-6C79-D141-988F-75BF79955E60}"/>
              </a:ext>
            </a:extLst>
          </p:cNvPr>
          <p:cNvSpPr txBox="1"/>
          <p:nvPr/>
        </p:nvSpPr>
        <p:spPr>
          <a:xfrm>
            <a:off x="558800" y="12573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Publish selected layers and relationship classes together for the richest experience.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8FB7E0-0E30-73C1-6D2F-0BAD9A16EC14}"/>
              </a:ext>
            </a:extLst>
          </p:cNvPr>
          <p:cNvSpPr txBox="1"/>
          <p:nvPr/>
        </p:nvSpPr>
        <p:spPr>
          <a:xfrm>
            <a:off x="533400" y="6502400"/>
            <a:ext cx="11049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>
                <a:solidFill>
                  <a:srgbClr val="5D6B75"/>
                </a:solidFill>
                <a:latin typeface="Aptos" panose="020B0004020202020204" pitchFamily="34" charset="0"/>
              </a:rPr>
              <a:t>INDOORS ASSET CATALOG  |  14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887401-5161-5CBD-9B99-B966076A2F25}"/>
              </a:ext>
            </a:extLst>
          </p:cNvPr>
          <p:cNvSpPr/>
          <p:nvPr/>
        </p:nvSpPr>
        <p:spPr>
          <a:xfrm>
            <a:off x="571500" y="1968500"/>
            <a:ext cx="4991100" cy="1714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2B1432-1D1A-D8B6-C6ED-C5E725EF4DC8}"/>
              </a:ext>
            </a:extLst>
          </p:cNvPr>
          <p:cNvSpPr/>
          <p:nvPr/>
        </p:nvSpPr>
        <p:spPr>
          <a:xfrm>
            <a:off x="571500" y="1968500"/>
            <a:ext cx="152400" cy="1714500"/>
          </a:xfrm>
          <a:prstGeom prst="round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DE4081-27F2-E70D-92A0-2EA8912954CD}"/>
              </a:ext>
            </a:extLst>
          </p:cNvPr>
          <p:cNvSpPr/>
          <p:nvPr/>
        </p:nvSpPr>
        <p:spPr>
          <a:xfrm>
            <a:off x="914400" y="2209800"/>
            <a:ext cx="1397000" cy="279400"/>
          </a:xfrm>
          <a:prstGeom prst="roundRect">
            <a:avLst/>
          </a:prstGeom>
          <a:solidFill>
            <a:srgbClr val="DDF0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BF625D-BD65-A880-A9E7-21E994076A21}"/>
              </a:ext>
            </a:extLst>
          </p:cNvPr>
          <p:cNvSpPr txBox="1"/>
          <p:nvPr/>
        </p:nvSpPr>
        <p:spPr>
          <a:xfrm>
            <a:off x="965200" y="2222500"/>
            <a:ext cx="12954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0B7285"/>
                </a:solidFill>
                <a:latin typeface="Aptos" panose="020B0004020202020204" pitchFamily="34" charset="0"/>
              </a:rPr>
              <a:t>PORTFOLIO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8B30E9-B0F1-87D3-D0D6-B57A26ED8FB9}"/>
              </a:ext>
            </a:extLst>
          </p:cNvPr>
          <p:cNvSpPr txBox="1"/>
          <p:nvPr/>
        </p:nvSpPr>
        <p:spPr>
          <a:xfrm>
            <a:off x="914400" y="2654300"/>
            <a:ext cx="42164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600" b="1">
                <a:solidFill>
                  <a:srgbClr val="17324D"/>
                </a:solidFill>
                <a:latin typeface="Aptos" panose="020B0004020202020204" pitchFamily="34" charset="0"/>
              </a:rPr>
              <a:t>Dashboards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263AE6-4349-C976-85BD-7629E2D4CA56}"/>
              </a:ext>
            </a:extLst>
          </p:cNvPr>
          <p:cNvSpPr txBox="1"/>
          <p:nvPr/>
        </p:nvSpPr>
        <p:spPr>
          <a:xfrm>
            <a:off x="914400" y="3086100"/>
            <a:ext cx="42164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>
                <a:solidFill>
                  <a:srgbClr val="5D6B75"/>
                </a:solidFill>
                <a:latin typeface="Aptos" panose="020B0004020202020204" pitchFamily="34" charset="0"/>
              </a:rPr>
              <a:t>Compare facilities, lifecycle stages, condition, cost, and risk.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4EB26F9-280F-B0BB-39FB-B9FCD9C61324}"/>
              </a:ext>
            </a:extLst>
          </p:cNvPr>
          <p:cNvSpPr/>
          <p:nvPr/>
        </p:nvSpPr>
        <p:spPr>
          <a:xfrm>
            <a:off x="6096000" y="1968500"/>
            <a:ext cx="4991100" cy="1714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B2DE7A-8565-B6F8-C3A8-4375EB02C5AC}"/>
              </a:ext>
            </a:extLst>
          </p:cNvPr>
          <p:cNvSpPr/>
          <p:nvPr/>
        </p:nvSpPr>
        <p:spPr>
          <a:xfrm>
            <a:off x="6096000" y="1968500"/>
            <a:ext cx="152400" cy="1714500"/>
          </a:xfrm>
          <a:prstGeom prst="roundRect">
            <a:avLst/>
          </a:prstGeom>
          <a:solidFill>
            <a:srgbClr val="2878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037BF28-9A25-0089-4C9C-5C61DA078A24}"/>
              </a:ext>
            </a:extLst>
          </p:cNvPr>
          <p:cNvSpPr/>
          <p:nvPr/>
        </p:nvSpPr>
        <p:spPr>
          <a:xfrm>
            <a:off x="6438900" y="2209800"/>
            <a:ext cx="1397000" cy="279400"/>
          </a:xfrm>
          <a:prstGeom prst="roundRect">
            <a:avLst/>
          </a:prstGeom>
          <a:solidFill>
            <a:srgbClr val="E4EE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A6BF1D-08CA-EC43-BE81-F05226F49BAC}"/>
              </a:ext>
            </a:extLst>
          </p:cNvPr>
          <p:cNvSpPr txBox="1"/>
          <p:nvPr/>
        </p:nvSpPr>
        <p:spPr>
          <a:xfrm>
            <a:off x="6489700" y="2222500"/>
            <a:ext cx="12954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2878B5"/>
                </a:solidFill>
                <a:latin typeface="Aptos" panose="020B0004020202020204" pitchFamily="34" charset="0"/>
              </a:rPr>
              <a:t>FLOOR-AWARE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4878B8-5104-E792-32EF-F74B832C0429}"/>
              </a:ext>
            </a:extLst>
          </p:cNvPr>
          <p:cNvSpPr txBox="1"/>
          <p:nvPr/>
        </p:nvSpPr>
        <p:spPr>
          <a:xfrm>
            <a:off x="6438900" y="2654300"/>
            <a:ext cx="42164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600" b="1">
                <a:solidFill>
                  <a:srgbClr val="17324D"/>
                </a:solidFill>
                <a:latin typeface="Aptos" panose="020B0004020202020204" pitchFamily="34" charset="0"/>
              </a:rPr>
              <a:t>Related records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DEA4C0-822F-D1DD-F10F-CDE295766593}"/>
              </a:ext>
            </a:extLst>
          </p:cNvPr>
          <p:cNvSpPr txBox="1"/>
          <p:nvPr/>
        </p:nvSpPr>
        <p:spPr>
          <a:xfrm>
            <a:off x="6438900" y="3086100"/>
            <a:ext cx="42164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>
                <a:solidFill>
                  <a:srgbClr val="5D6B75"/>
                </a:solidFill>
                <a:latin typeface="Aptos" panose="020B0004020202020204" pitchFamily="34" charset="0"/>
              </a:rPr>
              <a:t>Open inspections, repairs, and work orders from an indoor asset popup.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61DF17A-76C2-1CFD-D141-EACD9B3DE5AD}"/>
              </a:ext>
            </a:extLst>
          </p:cNvPr>
          <p:cNvSpPr/>
          <p:nvPr/>
        </p:nvSpPr>
        <p:spPr>
          <a:xfrm>
            <a:off x="571500" y="4038600"/>
            <a:ext cx="4991100" cy="1714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B0673A0-5774-B7C3-57E8-CF4D37C4A562}"/>
              </a:ext>
            </a:extLst>
          </p:cNvPr>
          <p:cNvSpPr/>
          <p:nvPr/>
        </p:nvSpPr>
        <p:spPr>
          <a:xfrm>
            <a:off x="571500" y="4038600"/>
            <a:ext cx="152400" cy="1714500"/>
          </a:xfrm>
          <a:prstGeom prst="roundRect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375A424-D5A7-5094-0CBE-1730F2954D3B}"/>
              </a:ext>
            </a:extLst>
          </p:cNvPr>
          <p:cNvSpPr/>
          <p:nvPr/>
        </p:nvSpPr>
        <p:spPr>
          <a:xfrm>
            <a:off x="914400" y="4279900"/>
            <a:ext cx="1397000" cy="279400"/>
          </a:xfrm>
          <a:prstGeom prst="roundRect">
            <a:avLst/>
          </a:prstGeom>
          <a:solidFill>
            <a:srgbClr val="FCE6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F3F005-9CF8-AA79-F0C2-E248D849E572}"/>
              </a:ext>
            </a:extLst>
          </p:cNvPr>
          <p:cNvSpPr txBox="1"/>
          <p:nvPr/>
        </p:nvSpPr>
        <p:spPr>
          <a:xfrm>
            <a:off x="965200" y="4292600"/>
            <a:ext cx="12954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E76F51"/>
                </a:solidFill>
                <a:latin typeface="Aptos" panose="020B0004020202020204" pitchFamily="34" charset="0"/>
              </a:rPr>
              <a:t>CONNECTED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AABC3E-84E3-F7D2-D128-60FF1D33F28B}"/>
              </a:ext>
            </a:extLst>
          </p:cNvPr>
          <p:cNvSpPr txBox="1"/>
          <p:nvPr/>
        </p:nvSpPr>
        <p:spPr>
          <a:xfrm>
            <a:off x="914400" y="4724400"/>
            <a:ext cx="42164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600" b="1">
                <a:solidFill>
                  <a:srgbClr val="17324D"/>
                </a:solidFill>
                <a:latin typeface="Aptos" panose="020B0004020202020204" pitchFamily="34" charset="0"/>
              </a:rPr>
              <a:t>Knowledge graph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E974A1-B7B7-A568-68BB-C3F705EB0560}"/>
              </a:ext>
            </a:extLst>
          </p:cNvPr>
          <p:cNvSpPr txBox="1"/>
          <p:nvPr/>
        </p:nvSpPr>
        <p:spPr>
          <a:xfrm>
            <a:off x="914400" y="5156200"/>
            <a:ext cx="42164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>
                <a:solidFill>
                  <a:srgbClr val="5D6B75"/>
                </a:solidFill>
                <a:latin typeface="Aptos" panose="020B0004020202020204" pitchFamily="34" charset="0"/>
              </a:rPr>
              <a:t>Explore assets, locations, lifecycle history, and supporting systems.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CFFF0B1-D7A7-7E85-3DFB-C1AB26B2E21C}"/>
              </a:ext>
            </a:extLst>
          </p:cNvPr>
          <p:cNvSpPr/>
          <p:nvPr/>
        </p:nvSpPr>
        <p:spPr>
          <a:xfrm>
            <a:off x="6096000" y="4038600"/>
            <a:ext cx="4991100" cy="1714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EE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81E407-2335-614D-BBD5-EFB7FE1A1E05}"/>
              </a:ext>
            </a:extLst>
          </p:cNvPr>
          <p:cNvSpPr/>
          <p:nvPr/>
        </p:nvSpPr>
        <p:spPr>
          <a:xfrm>
            <a:off x="6096000" y="4038600"/>
            <a:ext cx="152400" cy="1714500"/>
          </a:xfrm>
          <a:prstGeom prst="roundRect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F4AA019-D8CA-72FA-D734-AA55A48FB968}"/>
              </a:ext>
            </a:extLst>
          </p:cNvPr>
          <p:cNvSpPr/>
          <p:nvPr/>
        </p:nvSpPr>
        <p:spPr>
          <a:xfrm>
            <a:off x="6438900" y="4279900"/>
            <a:ext cx="1397000" cy="279400"/>
          </a:xfrm>
          <a:prstGeom prst="roundRect">
            <a:avLst/>
          </a:prstGeom>
          <a:solidFill>
            <a:srgbClr val="E1F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25C4E9-3A60-1E27-60EF-B40DF837B710}"/>
              </a:ext>
            </a:extLst>
          </p:cNvPr>
          <p:cNvSpPr txBox="1"/>
          <p:nvPr/>
        </p:nvSpPr>
        <p:spPr>
          <a:xfrm>
            <a:off x="6489700" y="4292600"/>
            <a:ext cx="12954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pPr algn="ctr"/>
            <a:r>
              <a:rPr lang="en-US" sz="850" b="1">
                <a:solidFill>
                  <a:srgbClr val="3D8361"/>
                </a:solidFill>
                <a:latin typeface="Aptos" panose="020B0004020202020204" pitchFamily="34" charset="0"/>
              </a:rPr>
              <a:t>REPEATABLE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2533AA-7F50-8774-1589-9F1139C78963}"/>
              </a:ext>
            </a:extLst>
          </p:cNvPr>
          <p:cNvSpPr txBox="1"/>
          <p:nvPr/>
        </p:nvSpPr>
        <p:spPr>
          <a:xfrm>
            <a:off x="6438900" y="4724400"/>
            <a:ext cx="4216400" cy="297517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600" b="1">
                <a:solidFill>
                  <a:srgbClr val="17324D"/>
                </a:solidFill>
                <a:latin typeface="Aptos" panose="020B0004020202020204" pitchFamily="34" charset="0"/>
              </a:rPr>
              <a:t>Training + testing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7D517A-90C5-ED88-2461-897F0EA1A765}"/>
              </a:ext>
            </a:extLst>
          </p:cNvPr>
          <p:cNvSpPr txBox="1"/>
          <p:nvPr/>
        </p:nvSpPr>
        <p:spPr>
          <a:xfrm>
            <a:off x="6438900" y="5156200"/>
            <a:ext cx="42164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>
                <a:solidFill>
                  <a:srgbClr val="5D6B75"/>
                </a:solidFill>
                <a:latin typeface="Aptos" panose="020B0004020202020204" pitchFamily="34" charset="0"/>
              </a:rPr>
              <a:t>Use stable synthetic data without production credentials or enterprise IDs.</a:t>
            </a:r>
          </a:p>
        </p:txBody>
      </p:sp>
    </p:spTree>
    <p:extLst>
      <p:ext uri="{BB962C8B-B14F-4D97-AF65-F5344CB8AC3E}">
        <p14:creationId xmlns:p14="http://schemas.microsoft.com/office/powerpoint/2010/main" val="776188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E01163-E806-8A7B-B60E-4C352C8FCD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0D94C3-5C9A-EE71-FF11-8A9BD5A329A1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728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74E6B-52C2-D99A-A5A2-97969E336348}"/>
              </a:ext>
            </a:extLst>
          </p:cNvPr>
          <p:cNvSpPr txBox="1"/>
          <p:nvPr/>
        </p:nvSpPr>
        <p:spPr>
          <a:xfrm>
            <a:off x="533400" y="304800"/>
            <a:ext cx="9652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00" b="1">
                <a:solidFill>
                  <a:srgbClr val="0B7285"/>
                </a:solidFill>
                <a:latin typeface="Aptos" panose="020B0004020202020204" pitchFamily="34" charset="0"/>
              </a:rPr>
              <a:t>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689FAA-C2D0-8FEF-8DD1-297550A6E174}"/>
              </a:ext>
            </a:extLst>
          </p:cNvPr>
          <p:cNvSpPr txBox="1"/>
          <p:nvPr/>
        </p:nvSpPr>
        <p:spPr>
          <a:xfrm>
            <a:off x="533400" y="635000"/>
            <a:ext cx="10922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700" b="1">
                <a:solidFill>
                  <a:srgbClr val="17324D"/>
                </a:solidFill>
                <a:latin typeface="Aptos" panose="020B0004020202020204" pitchFamily="34" charset="0"/>
              </a:rPr>
              <a:t>Clear boundaries keep the demonstration honest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7BDF07-FD20-01AC-E9BF-B4EA9B09334D}"/>
              </a:ext>
            </a:extLst>
          </p:cNvPr>
          <p:cNvSpPr txBox="1"/>
          <p:nvPr/>
        </p:nvSpPr>
        <p:spPr>
          <a:xfrm>
            <a:off x="558800" y="1257300"/>
            <a:ext cx="10795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5D6B75"/>
                </a:solidFill>
                <a:latin typeface="Aptos" panose="020B0004020202020204" pitchFamily="34" charset="0"/>
              </a:rPr>
              <a:t>The catalog is designed for evaluation and storytelling, not as an asserted facility inventory.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D47BF0-96A4-B978-ED1F-BA454D522389}"/>
              </a:ext>
            </a:extLst>
          </p:cNvPr>
          <p:cNvSpPr txBox="1"/>
          <p:nvPr/>
        </p:nvSpPr>
        <p:spPr>
          <a:xfrm>
            <a:off x="533400" y="6502400"/>
            <a:ext cx="11049000" cy="166712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750">
                <a:solidFill>
                  <a:srgbClr val="5D6B75"/>
                </a:solidFill>
                <a:latin typeface="Aptos" panose="020B0004020202020204" pitchFamily="34" charset="0"/>
              </a:rPr>
              <a:t>INDOORS ASSET CATALOG  |  15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706BDF-BC97-358E-D6BB-49AAC4BE3F9A}"/>
              </a:ext>
            </a:extLst>
          </p:cNvPr>
          <p:cNvSpPr/>
          <p:nvPr/>
        </p:nvSpPr>
        <p:spPr>
          <a:xfrm>
            <a:off x="558800" y="1917700"/>
            <a:ext cx="5181600" cy="3886200"/>
          </a:xfrm>
          <a:prstGeom prst="roundRect">
            <a:avLst/>
          </a:prstGeom>
          <a:solidFill>
            <a:srgbClr val="E1F1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7EF153-9AEC-8659-15A3-D00C89BB3F0C}"/>
              </a:ext>
            </a:extLst>
          </p:cNvPr>
          <p:cNvSpPr txBox="1"/>
          <p:nvPr/>
        </p:nvSpPr>
        <p:spPr>
          <a:xfrm>
            <a:off x="850900" y="2209800"/>
            <a:ext cx="2032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300" b="1">
                <a:solidFill>
                  <a:srgbClr val="3D8361"/>
                </a:solidFill>
                <a:latin typeface="Aptos" panose="020B0004020202020204" pitchFamily="34" charset="0"/>
              </a:rPr>
              <a:t>IN SCOPE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71D4D9-3D27-F485-D8CB-D82F1707E460}"/>
              </a:ext>
            </a:extLst>
          </p:cNvPr>
          <p:cNvSpPr/>
          <p:nvPr/>
        </p:nvSpPr>
        <p:spPr>
          <a:xfrm>
            <a:off x="889000" y="2819400"/>
            <a:ext cx="101600" cy="1016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EA4FF3-149C-2110-C193-0E10D55B1885}"/>
              </a:ext>
            </a:extLst>
          </p:cNvPr>
          <p:cNvSpPr txBox="1"/>
          <p:nvPr/>
        </p:nvSpPr>
        <p:spPr>
          <a:xfrm>
            <a:off x="1104900" y="2730500"/>
            <a:ext cx="4102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Synthetic lifecycle and history records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486700-A9B5-7A91-66B0-81E917B4B8C3}"/>
              </a:ext>
            </a:extLst>
          </p:cNvPr>
          <p:cNvSpPr/>
          <p:nvPr/>
        </p:nvSpPr>
        <p:spPr>
          <a:xfrm>
            <a:off x="889000" y="3365500"/>
            <a:ext cx="101600" cy="1016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CFB34E-93D8-ED0F-1C02-B55803AA6886}"/>
              </a:ext>
            </a:extLst>
          </p:cNvPr>
          <p:cNvSpPr txBox="1"/>
          <p:nvPr/>
        </p:nvSpPr>
        <p:spPr>
          <a:xfrm>
            <a:off x="1104900" y="3276600"/>
            <a:ext cx="4102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Procedural hospital and office layouts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2404F3-4917-9DEF-5839-428A99F205A4}"/>
              </a:ext>
            </a:extLst>
          </p:cNvPr>
          <p:cNvSpPr/>
          <p:nvPr/>
        </p:nvSpPr>
        <p:spPr>
          <a:xfrm>
            <a:off x="889000" y="3911600"/>
            <a:ext cx="101600" cy="1016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B5BEBA-CFBC-43A1-217E-5FDC7A975AE5}"/>
              </a:ext>
            </a:extLst>
          </p:cNvPr>
          <p:cNvSpPr txBox="1"/>
          <p:nvPr/>
        </p:nvSpPr>
        <p:spPr>
          <a:xfrm>
            <a:off x="1104900" y="3822700"/>
            <a:ext cx="4102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Dashboard and related-record workflows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9E42BA9-FA11-0CCC-B773-14C957631B82}"/>
              </a:ext>
            </a:extLst>
          </p:cNvPr>
          <p:cNvSpPr/>
          <p:nvPr/>
        </p:nvSpPr>
        <p:spPr>
          <a:xfrm>
            <a:off x="889000" y="4457700"/>
            <a:ext cx="101600" cy="1016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98012D-9E08-7376-8E4C-ED1FBCCFA7E8}"/>
              </a:ext>
            </a:extLst>
          </p:cNvPr>
          <p:cNvSpPr txBox="1"/>
          <p:nvPr/>
        </p:nvSpPr>
        <p:spPr>
          <a:xfrm>
            <a:off x="1104900" y="4368800"/>
            <a:ext cx="4102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Replacement, warranty, risk, and maintenance planning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EB3A781-C24D-E676-2C75-538EE42FA7DD}"/>
              </a:ext>
            </a:extLst>
          </p:cNvPr>
          <p:cNvSpPr/>
          <p:nvPr/>
        </p:nvSpPr>
        <p:spPr>
          <a:xfrm>
            <a:off x="889000" y="5003800"/>
            <a:ext cx="101600" cy="101600"/>
          </a:xfrm>
          <a:prstGeom prst="ellipse">
            <a:avLst/>
          </a:prstGeom>
          <a:solidFill>
            <a:srgbClr val="3D83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CDF48E-0DC2-C7AC-F7E8-A1FF09039E47}"/>
              </a:ext>
            </a:extLst>
          </p:cNvPr>
          <p:cNvSpPr txBox="1"/>
          <p:nvPr/>
        </p:nvSpPr>
        <p:spPr>
          <a:xfrm>
            <a:off x="1104900" y="4914900"/>
            <a:ext cx="4102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Graph-ready system dependencies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90EE16F-995F-77EE-ADAB-EF79AAE5545D}"/>
              </a:ext>
            </a:extLst>
          </p:cNvPr>
          <p:cNvSpPr/>
          <p:nvPr/>
        </p:nvSpPr>
        <p:spPr>
          <a:xfrm>
            <a:off x="6159500" y="1917700"/>
            <a:ext cx="5397500" cy="3886200"/>
          </a:xfrm>
          <a:prstGeom prst="roundRect">
            <a:avLst/>
          </a:prstGeom>
          <a:solidFill>
            <a:srgbClr val="FCE6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8462BC-1AC3-0D57-69A9-61BF25B31C33}"/>
              </a:ext>
            </a:extLst>
          </p:cNvPr>
          <p:cNvSpPr txBox="1"/>
          <p:nvPr/>
        </p:nvSpPr>
        <p:spPr>
          <a:xfrm>
            <a:off x="6464300" y="2209800"/>
            <a:ext cx="2413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300" b="1">
                <a:solidFill>
                  <a:srgbClr val="E76F51"/>
                </a:solidFill>
                <a:latin typeface="Aptos" panose="020B0004020202020204" pitchFamily="34" charset="0"/>
              </a:rPr>
              <a:t>OUT OF SCOPE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98134FF-DCE1-0BA9-A01F-20F4E410DE80}"/>
              </a:ext>
            </a:extLst>
          </p:cNvPr>
          <p:cNvSpPr/>
          <p:nvPr/>
        </p:nvSpPr>
        <p:spPr>
          <a:xfrm>
            <a:off x="6502400" y="2819400"/>
            <a:ext cx="101600" cy="101600"/>
          </a:xfrm>
          <a:prstGeom prst="ellipse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4A8278-84E7-109F-9041-3665C914FEE3}"/>
              </a:ext>
            </a:extLst>
          </p:cNvPr>
          <p:cNvSpPr txBox="1"/>
          <p:nvPr/>
        </p:nvSpPr>
        <p:spPr>
          <a:xfrm>
            <a:off x="6718300" y="2730500"/>
            <a:ext cx="4229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Claims about real equipment inventory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6C068AB-0265-789E-45B6-3F587F031A2A}"/>
              </a:ext>
            </a:extLst>
          </p:cNvPr>
          <p:cNvSpPr/>
          <p:nvPr/>
        </p:nvSpPr>
        <p:spPr>
          <a:xfrm>
            <a:off x="6502400" y="3365500"/>
            <a:ext cx="101600" cy="101600"/>
          </a:xfrm>
          <a:prstGeom prst="ellipse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809636-79BA-A5BB-C968-CB9E48DE27F6}"/>
              </a:ext>
            </a:extLst>
          </p:cNvPr>
          <p:cNvSpPr txBox="1"/>
          <p:nvPr/>
        </p:nvSpPr>
        <p:spPr>
          <a:xfrm>
            <a:off x="6718300" y="3276600"/>
            <a:ext cx="4229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Reconstruction of actual building plans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5079D08-4557-1FCA-50F7-7B075FDCCB0F}"/>
              </a:ext>
            </a:extLst>
          </p:cNvPr>
          <p:cNvSpPr/>
          <p:nvPr/>
        </p:nvSpPr>
        <p:spPr>
          <a:xfrm>
            <a:off x="6502400" y="3911600"/>
            <a:ext cx="101600" cy="101600"/>
          </a:xfrm>
          <a:prstGeom prst="ellipse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52E824-6AA9-3A59-A6C7-348B07B17E4E}"/>
              </a:ext>
            </a:extLst>
          </p:cNvPr>
          <p:cNvSpPr txBox="1"/>
          <p:nvPr/>
        </p:nvSpPr>
        <p:spPr>
          <a:xfrm>
            <a:off x="6718300" y="3822700"/>
            <a:ext cx="4229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Utility-network asset modeling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1ED960F-C13D-4A8B-A31B-F18C7FF87C90}"/>
              </a:ext>
            </a:extLst>
          </p:cNvPr>
          <p:cNvSpPr/>
          <p:nvPr/>
        </p:nvSpPr>
        <p:spPr>
          <a:xfrm>
            <a:off x="6502400" y="4457700"/>
            <a:ext cx="101600" cy="101600"/>
          </a:xfrm>
          <a:prstGeom prst="ellipse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C9AF5-1B77-8113-68EA-4B53FF941A3F}"/>
              </a:ext>
            </a:extLst>
          </p:cNvPr>
          <p:cNvSpPr txBox="1"/>
          <p:nvPr/>
        </p:nvSpPr>
        <p:spPr>
          <a:xfrm>
            <a:off x="6718300" y="4368800"/>
            <a:ext cx="4229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Live enterprise records or credentials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C39179D-2BF8-33BA-34F3-8C93F8EA65C7}"/>
              </a:ext>
            </a:extLst>
          </p:cNvPr>
          <p:cNvSpPr/>
          <p:nvPr/>
        </p:nvSpPr>
        <p:spPr>
          <a:xfrm>
            <a:off x="6502400" y="5003800"/>
            <a:ext cx="101600" cy="101600"/>
          </a:xfrm>
          <a:prstGeom prst="ellipse">
            <a:avLst/>
          </a:prstGeom>
          <a:solidFill>
            <a:srgbClr val="E76F5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7194FE-9394-AFEA-A209-F5BB4F37C690}"/>
              </a:ext>
            </a:extLst>
          </p:cNvPr>
          <p:cNvSpPr txBox="1"/>
          <p:nvPr/>
        </p:nvSpPr>
        <p:spPr>
          <a:xfrm>
            <a:off x="6718300" y="4914900"/>
            <a:ext cx="42291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>
                <a:solidFill>
                  <a:srgbClr val="1F2D38"/>
                </a:solidFill>
                <a:latin typeface="Aptos" panose="020B0004020202020204" pitchFamily="34" charset="0"/>
              </a:rPr>
              <a:t>Hosted forms, portal IDs, or image binaries</a:t>
            </a:r>
          </a:p>
        </p:txBody>
      </p:sp>
    </p:spTree>
    <p:extLst>
      <p:ext uri="{BB962C8B-B14F-4D97-AF65-F5344CB8AC3E}">
        <p14:creationId xmlns:p14="http://schemas.microsoft.com/office/powerpoint/2010/main" val="1045656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74D94B-B4FE-7070-9BDF-802BEE8D64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2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55C70E-6006-504F-2F2E-2C475F06A2F2}"/>
              </a:ext>
            </a:extLst>
          </p:cNvPr>
          <p:cNvSpPr txBox="1"/>
          <p:nvPr/>
        </p:nvSpPr>
        <p:spPr>
          <a:xfrm>
            <a:off x="660400" y="609600"/>
            <a:ext cx="6477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00" b="1">
                <a:solidFill>
                  <a:srgbClr val="E9B44C"/>
                </a:solidFill>
                <a:latin typeface="Aptos" panose="020B0004020202020204" pitchFamily="34" charset="0"/>
              </a:rPr>
              <a:t>READY FOR DEMONSTRATION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17B06-3ACB-80E9-EC9B-E3BE7482046E}"/>
              </a:ext>
            </a:extLst>
          </p:cNvPr>
          <p:cNvSpPr txBox="1"/>
          <p:nvPr/>
        </p:nvSpPr>
        <p:spPr>
          <a:xfrm>
            <a:off x="660400" y="1181100"/>
            <a:ext cx="7112000" cy="1005403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3100" b="1">
                <a:solidFill>
                  <a:srgbClr val="FFFFFF"/>
                </a:solidFill>
                <a:latin typeface="Aptos" panose="020B0004020202020204" pitchFamily="34" charset="0"/>
              </a:rPr>
              <a:t>A coherent catalog with
room to become a product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679F0-2697-3DA4-830B-4C3BE17921AE}"/>
              </a:ext>
            </a:extLst>
          </p:cNvPr>
          <p:cNvSpPr txBox="1"/>
          <p:nvPr/>
        </p:nvSpPr>
        <p:spPr>
          <a:xfrm>
            <a:off x="673100" y="2971800"/>
            <a:ext cx="2667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500" b="1">
                <a:solidFill>
                  <a:srgbClr val="DDF0F2"/>
                </a:solidFill>
                <a:latin typeface="Aptos" panose="020B0004020202020204" pitchFamily="34" charset="0"/>
              </a:rPr>
              <a:t>Next actions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C27FF86-0181-C691-ED11-94EE4817311D}"/>
              </a:ext>
            </a:extLst>
          </p:cNvPr>
          <p:cNvSpPr/>
          <p:nvPr/>
        </p:nvSpPr>
        <p:spPr>
          <a:xfrm>
            <a:off x="723900" y="35941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A374E-1BB1-C8EC-1CF5-9B411C8E53E4}"/>
              </a:ext>
            </a:extLst>
          </p:cNvPr>
          <p:cNvSpPr txBox="1"/>
          <p:nvPr/>
        </p:nvSpPr>
        <p:spPr>
          <a:xfrm>
            <a:off x="939800" y="3505200"/>
            <a:ext cx="63881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>
                <a:solidFill>
                  <a:srgbClr val="FFFFFF"/>
                </a:solidFill>
                <a:latin typeface="Aptos" panose="020B0004020202020204" pitchFamily="34" charset="0"/>
              </a:rPr>
              <a:t>Publish asset and history layers with relationship classes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2FF2F68-22F8-3299-2ADC-A382927E210C}"/>
              </a:ext>
            </a:extLst>
          </p:cNvPr>
          <p:cNvSpPr/>
          <p:nvPr/>
        </p:nvSpPr>
        <p:spPr>
          <a:xfrm>
            <a:off x="723900" y="40640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91416A-C0AC-705D-74B0-E22B699CAC34}"/>
              </a:ext>
            </a:extLst>
          </p:cNvPr>
          <p:cNvSpPr txBox="1"/>
          <p:nvPr/>
        </p:nvSpPr>
        <p:spPr>
          <a:xfrm>
            <a:off x="939800" y="3975100"/>
            <a:ext cx="63881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>
                <a:solidFill>
                  <a:srgbClr val="FFFFFF"/>
                </a:solidFill>
                <a:latin typeface="Aptos" panose="020B0004020202020204" pitchFamily="34" charset="0"/>
              </a:rPr>
              <a:t>Configure floor awareness and related-record popups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7667402-93CE-0471-0D00-1C736108FD05}"/>
              </a:ext>
            </a:extLst>
          </p:cNvPr>
          <p:cNvSpPr/>
          <p:nvPr/>
        </p:nvSpPr>
        <p:spPr>
          <a:xfrm>
            <a:off x="723900" y="45339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D5D159-3617-AAEF-AEBA-8545ED9D27A9}"/>
              </a:ext>
            </a:extLst>
          </p:cNvPr>
          <p:cNvSpPr txBox="1"/>
          <p:nvPr/>
        </p:nvSpPr>
        <p:spPr>
          <a:xfrm>
            <a:off x="939800" y="4445000"/>
            <a:ext cx="63881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>
                <a:solidFill>
                  <a:srgbClr val="FFFFFF"/>
                </a:solidFill>
                <a:latin typeface="Aptos" panose="020B0004020202020204" pitchFamily="34" charset="0"/>
              </a:rPr>
              <a:t>Build portfolio and replacement-planning dashboards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8A421F-8662-8832-92DA-23EB565B0622}"/>
              </a:ext>
            </a:extLst>
          </p:cNvPr>
          <p:cNvSpPr/>
          <p:nvPr/>
        </p:nvSpPr>
        <p:spPr>
          <a:xfrm>
            <a:off x="723900" y="50038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3FC6E0-2665-2156-3AAB-7D500C07B1D8}"/>
              </a:ext>
            </a:extLst>
          </p:cNvPr>
          <p:cNvSpPr txBox="1"/>
          <p:nvPr/>
        </p:nvSpPr>
        <p:spPr>
          <a:xfrm>
            <a:off x="939800" y="4914900"/>
            <a:ext cx="63881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>
                <a:solidFill>
                  <a:srgbClr val="FFFFFF"/>
                </a:solidFill>
                <a:latin typeface="Aptos" panose="020B0004020202020204" pitchFamily="34" charset="0"/>
              </a:rPr>
              <a:t>Model system dependencies as graph relationships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8575769-BE82-DAC2-8BD6-5B4B8CE0ADA9}"/>
              </a:ext>
            </a:extLst>
          </p:cNvPr>
          <p:cNvSpPr/>
          <p:nvPr/>
        </p:nvSpPr>
        <p:spPr>
          <a:xfrm>
            <a:off x="723900" y="5473700"/>
            <a:ext cx="101600" cy="101600"/>
          </a:xfrm>
          <a:prstGeom prst="ellipse">
            <a:avLst/>
          </a:prstGeom>
          <a:solidFill>
            <a:srgbClr val="E9B44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46D8EB-1D55-8EFF-D961-F1DA1E7B16DB}"/>
              </a:ext>
            </a:extLst>
          </p:cNvPr>
          <p:cNvSpPr txBox="1"/>
          <p:nvPr/>
        </p:nvSpPr>
        <p:spPr>
          <a:xfrm>
            <a:off x="939800" y="5384800"/>
            <a:ext cx="6388100" cy="22826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150">
                <a:solidFill>
                  <a:srgbClr val="FFFFFF"/>
                </a:solidFill>
                <a:latin typeface="Aptos" panose="020B0004020202020204" pitchFamily="34" charset="0"/>
              </a:rPr>
              <a:t>Decide whether enrichment becomes a toolbox tool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2C66E93-FC36-0D26-3CF3-4C9D1F3FEA4E}"/>
              </a:ext>
            </a:extLst>
          </p:cNvPr>
          <p:cNvSpPr/>
          <p:nvPr/>
        </p:nvSpPr>
        <p:spPr>
          <a:xfrm>
            <a:off x="8140700" y="787400"/>
            <a:ext cx="3340100" cy="51689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30FEA9-0A0D-AFD5-76CA-EB3D54ABB032}"/>
              </a:ext>
            </a:extLst>
          </p:cNvPr>
          <p:cNvSpPr txBox="1"/>
          <p:nvPr/>
        </p:nvSpPr>
        <p:spPr>
          <a:xfrm>
            <a:off x="8470900" y="1104900"/>
            <a:ext cx="2667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400" b="1">
                <a:solidFill>
                  <a:srgbClr val="17324D"/>
                </a:solidFill>
                <a:latin typeface="Aptos" panose="020B0004020202020204" pitchFamily="34" charset="0"/>
              </a:rPr>
              <a:t>Validated result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432397-557D-1B4E-7B33-877F9C003860}"/>
              </a:ext>
            </a:extLst>
          </p:cNvPr>
          <p:cNvSpPr txBox="1"/>
          <p:nvPr/>
        </p:nvSpPr>
        <p:spPr>
          <a:xfrm>
            <a:off x="8483600" y="1739900"/>
            <a:ext cx="13081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400" b="1">
                <a:solidFill>
                  <a:srgbClr val="0B7285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9B8467-231F-B267-A78C-512F2732F371}"/>
              </a:ext>
            </a:extLst>
          </p:cNvPr>
          <p:cNvSpPr txBox="1"/>
          <p:nvPr/>
        </p:nvSpPr>
        <p:spPr>
          <a:xfrm>
            <a:off x="9829800" y="1841500"/>
            <a:ext cx="1270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5D6B75"/>
                </a:solidFill>
                <a:latin typeface="Aptos" panose="020B0004020202020204" pitchFamily="34" charset="0"/>
              </a:rPr>
              <a:t>facilities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FDDA67F-9271-E4B2-7198-868E43EC4276}"/>
              </a:ext>
            </a:extLst>
          </p:cNvPr>
          <p:cNvCxnSpPr/>
          <p:nvPr/>
        </p:nvCxnSpPr>
        <p:spPr>
          <a:xfrm>
            <a:off x="8483600" y="2400300"/>
            <a:ext cx="2654300" cy="0"/>
          </a:xfrm>
          <a:prstGeom prst="line">
            <a:avLst/>
          </a:prstGeom>
          <a:ln w="19050">
            <a:solidFill>
              <a:srgbClr val="D4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540152C-1135-DE78-82D8-C32292B71ABB}"/>
              </a:ext>
            </a:extLst>
          </p:cNvPr>
          <p:cNvSpPr txBox="1"/>
          <p:nvPr/>
        </p:nvSpPr>
        <p:spPr>
          <a:xfrm>
            <a:off x="8483600" y="2628900"/>
            <a:ext cx="13081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400" b="1">
                <a:solidFill>
                  <a:srgbClr val="2878B5"/>
                </a:solidFill>
                <a:latin typeface="Aptos" panose="020B0004020202020204" pitchFamily="34" charset="0"/>
              </a:rPr>
              <a:t>1,025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CE1362-DCC1-303E-5E30-1160441AD414}"/>
              </a:ext>
            </a:extLst>
          </p:cNvPr>
          <p:cNvSpPr txBox="1"/>
          <p:nvPr/>
        </p:nvSpPr>
        <p:spPr>
          <a:xfrm>
            <a:off x="9829800" y="2730500"/>
            <a:ext cx="1270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5D6B75"/>
                </a:solidFill>
                <a:latin typeface="Aptos" panose="020B0004020202020204" pitchFamily="34" charset="0"/>
              </a:rPr>
              <a:t>units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003C3E-20F2-A2C1-3670-0B9DF0A58908}"/>
              </a:ext>
            </a:extLst>
          </p:cNvPr>
          <p:cNvCxnSpPr/>
          <p:nvPr/>
        </p:nvCxnSpPr>
        <p:spPr>
          <a:xfrm>
            <a:off x="8483600" y="3289300"/>
            <a:ext cx="2654300" cy="0"/>
          </a:xfrm>
          <a:prstGeom prst="line">
            <a:avLst/>
          </a:prstGeom>
          <a:ln w="19050">
            <a:solidFill>
              <a:srgbClr val="D4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561718-52BA-1487-3DBB-03683771AF6E}"/>
              </a:ext>
            </a:extLst>
          </p:cNvPr>
          <p:cNvSpPr txBox="1"/>
          <p:nvPr/>
        </p:nvSpPr>
        <p:spPr>
          <a:xfrm>
            <a:off x="8483600" y="3517900"/>
            <a:ext cx="13081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400" b="1">
                <a:solidFill>
                  <a:srgbClr val="E76F51"/>
                </a:solidFill>
                <a:latin typeface="Aptos" panose="020B0004020202020204" pitchFamily="34" charset="0"/>
              </a:rPr>
              <a:t>4,852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EEFBD9-9936-346A-56F8-5D0A806895E5}"/>
              </a:ext>
            </a:extLst>
          </p:cNvPr>
          <p:cNvSpPr txBox="1"/>
          <p:nvPr/>
        </p:nvSpPr>
        <p:spPr>
          <a:xfrm>
            <a:off x="9829800" y="3619500"/>
            <a:ext cx="1270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5D6B75"/>
                </a:solidFill>
                <a:latin typeface="Aptos" panose="020B0004020202020204" pitchFamily="34" charset="0"/>
              </a:rPr>
              <a:t>assets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B28A5CA-20A4-022A-C3E5-02B85D4BC772}"/>
              </a:ext>
            </a:extLst>
          </p:cNvPr>
          <p:cNvCxnSpPr/>
          <p:nvPr/>
        </p:nvCxnSpPr>
        <p:spPr>
          <a:xfrm>
            <a:off x="8483600" y="4178300"/>
            <a:ext cx="2654300" cy="0"/>
          </a:xfrm>
          <a:prstGeom prst="line">
            <a:avLst/>
          </a:prstGeom>
          <a:ln w="19050">
            <a:solidFill>
              <a:srgbClr val="D4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152A2C4-1AF3-B02E-7749-2FAE78CF9708}"/>
              </a:ext>
            </a:extLst>
          </p:cNvPr>
          <p:cNvSpPr txBox="1"/>
          <p:nvPr/>
        </p:nvSpPr>
        <p:spPr>
          <a:xfrm>
            <a:off x="8483600" y="4406900"/>
            <a:ext cx="13081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2400" b="1">
                <a:solidFill>
                  <a:srgbClr val="3D8361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C91D06-97D5-5A7D-89E2-D25BFDBF88AE}"/>
              </a:ext>
            </a:extLst>
          </p:cNvPr>
          <p:cNvSpPr txBox="1"/>
          <p:nvPr/>
        </p:nvSpPr>
        <p:spPr>
          <a:xfrm>
            <a:off x="9829800" y="4508500"/>
            <a:ext cx="1270000" cy="212879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1050">
                <a:solidFill>
                  <a:srgbClr val="5D6B75"/>
                </a:solidFill>
                <a:latin typeface="Aptos" panose="020B0004020202020204" pitchFamily="34" charset="0"/>
              </a:rPr>
              <a:t>orphans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A7AB1C-E82B-D018-32A6-9AA04B0DE4F5}"/>
              </a:ext>
            </a:extLst>
          </p:cNvPr>
          <p:cNvSpPr txBox="1"/>
          <p:nvPr/>
        </p:nvSpPr>
        <p:spPr>
          <a:xfrm>
            <a:off x="8470900" y="5422900"/>
            <a:ext cx="26670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850" b="1">
                <a:solidFill>
                  <a:srgbClr val="5D6B75"/>
                </a:solidFill>
                <a:latin typeface="Aptos" panose="020B0004020202020204" pitchFamily="34" charset="0"/>
              </a:rPr>
              <a:t>Documentation and source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7404CC-BD89-775D-FC0D-F73C2170BEA6}"/>
              </a:ext>
            </a:extLst>
          </p:cNvPr>
          <p:cNvSpPr txBox="1"/>
          <p:nvPr/>
        </p:nvSpPr>
        <p:spPr>
          <a:xfrm>
            <a:off x="8470900" y="5676900"/>
            <a:ext cx="2667000" cy="182101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850">
                <a:solidFill>
                  <a:srgbClr val="0B7285"/>
                </a:solidFill>
                <a:latin typeface="Aptos" panose="020B0004020202020204" pitchFamily="34" charset="0"/>
              </a:rPr>
              <a:t>github.com/JonGabHall/demo-data-generator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D00EF9-2E52-4B4B-4684-7A1930CED5A3}"/>
              </a:ext>
            </a:extLst>
          </p:cNvPr>
          <p:cNvSpPr txBox="1"/>
          <p:nvPr/>
        </p:nvSpPr>
        <p:spPr>
          <a:xfrm>
            <a:off x="673100" y="6413500"/>
            <a:ext cx="6604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 anchor="t">
            <a:spAutoFit/>
          </a:bodyPr>
          <a:lstStyle/>
          <a:p>
            <a:r>
              <a:rPr lang="en-US" sz="800">
                <a:solidFill>
                  <a:srgbClr val="DDF0F2"/>
                </a:solidFill>
                <a:latin typeface="Aptos" panose="020B0004020202020204" pitchFamily="34" charset="0"/>
              </a:rPr>
              <a:t>Synthetic demonstration data  |  October 1, 2026</a:t>
            </a:r>
          </a:p>
        </p:txBody>
      </p:sp>
    </p:spTree>
    <p:extLst>
      <p:ext uri="{BB962C8B-B14F-4D97-AF65-F5344CB8AC3E}">
        <p14:creationId xmlns:p14="http://schemas.microsoft.com/office/powerpoint/2010/main" val="843298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1414</Words>
  <Application>Microsoft Office PowerPoint</Application>
  <PresentationFormat>Custom</PresentationFormat>
  <Paragraphs>316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Jonah Hall</dc:creator>
  <cp:lastModifiedBy>Jonah Hall</cp:lastModifiedBy>
  <cp:revision>1</cp:revision>
  <dcterms:created xsi:type="dcterms:W3CDTF">2026-10-01T04:17:39Z</dcterms:created>
  <dcterms:modified xsi:type="dcterms:W3CDTF">2026-10-01T04:17:39Z</dcterms:modified>
</cp:coreProperties>
</file>